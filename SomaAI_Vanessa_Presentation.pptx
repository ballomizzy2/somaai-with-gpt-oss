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6" r:id="rId5"/>
    <p:sldId id="259" r:id="rId6"/>
    <p:sldId id="260" r:id="rId7"/>
    <p:sldId id="261" r:id="rId8"/>
    <p:sldId id="262" r:id="rId9"/>
    <p:sldId id="267"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053" autoAdjust="0"/>
  </p:normalViewPr>
  <p:slideViewPr>
    <p:cSldViewPr snapToGrid="0" snapToObjects="1">
      <p:cViewPr varScale="1">
        <p:scale>
          <a:sx n="76" d="100"/>
          <a:sy n="76" d="100"/>
        </p:scale>
        <p:origin x="10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1118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your time today.
My name is Michael Olaoye, and I'm here to walk you through SomaAI — a gamified somatic tracking application we've built to support patients managing chronic pain through Pain Reprocessing Therapy.
Today's session will be about 15 minutes. I'll cover the problem we're solving, our clinical approach, a live demo of what we've built, and a specific ask for your approval to move forward with a 5–10 patient pilot.
Please feel free to ask questions at any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challenge we set out to address.
Chronic pain affects 50 million Americans and is the leading cause of long-term disability in the country. Despite its prevalence, patients often wait years for a correct diagnosis, and when they do get one, the options are limited.
What's missing isn't just treatment — it's *understanding*. Most patients don't have tools to track their somatic experience over time, and clinicians lack longitudinal data to inform decisions.
Current digital health tools treat pain as a number on a scale. They don't engage with the psychological and somatic dimensions that Pain Reprocessing Therapy addresses.
SomaAI was built to fill that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 three pillars of our approach.
First, the clinical framework. Everything in SomaAI is grounded in Pain Reprocessing Therapy — the same approach validated in Ashar et al.'s 2022 JAMA Psychiatry RCT, which showed ~66% of participants achieving pain-free or near-pain-free outcomes. Our AI coaching policy is explicitly defined around PRT principles: reattribution, somatic tracking, and safety escalation rules.
Second, gamification. We know that symptom journals have terrible adherence. By embedding the somatic tracking experience inside a Unity-built game — with streaks, body-map interaction, and visual feedback — we create meaningful engagement that a plain form never could.
Third, longitudinal data. The real clinical value is the trend data. A single pain session tells you very little. Seven days of region-specific, quality-coded pain reports — combined with exercise adherence — starts to tell a real clinical story. That's what the progress dashboard captures.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171450" indent="-171450">
              <a:buFontTx/>
              <a:buChar char="-"/>
            </a:pPr>
            <a:r>
              <a:rPr lang="en-US" dirty="0"/>
              <a:t>Why PRT?</a:t>
            </a:r>
          </a:p>
          <a:p>
            <a:pPr marL="171450" indent="-171450">
              <a:buFontTx/>
              <a:buChar char="-"/>
            </a:pPr>
            <a:r>
              <a:rPr lang="en-US" dirty="0"/>
              <a:t>Ashar Yoni K, Alan Gordon</a:t>
            </a:r>
          </a:p>
        </p:txBody>
      </p:sp>
    </p:spTree>
    <p:extLst>
      <p:ext uri="{BB962C8B-B14F-4D97-AF65-F5344CB8AC3E}">
        <p14:creationId xmlns:p14="http://schemas.microsoft.com/office/powerpoint/2010/main" val="1152985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interconnected layers.
Layer one is the Unity game — this is what the patient sees. Soma+ is a web-based game that opens in a browser tab. The patient uses a body-map interface to tag their pain's location, quality, and severity. This data is captured in real time.
Layer two is the voice coach. When the patient or the game triggers it, a voice session starts — right in the browser. No app to download, no phone call to answer. The voice coach receives the pain context that Unity just captured, so the conversation starts from a clinically informed place: "I see you're reporting sharp lower-back pain at a 7 — let's work through that."
Layer three is the dashboard. Every interaction gets logged. Over days and weeks, the patient and their clinician [</a:t>
            </a:r>
            <a:r>
              <a:rPr lang="en-US" i="1" dirty="0">
                <a:solidFill>
                  <a:srgbClr val="FF0000"/>
                </a:solidFill>
              </a:rPr>
              <a:t>was thinking only the clinician can see the trend</a:t>
            </a:r>
            <a:r>
              <a:rPr lang="en-US" dirty="0"/>
              <a:t>] can see whether pain is trending down, whether exercises are being completed, and whether the streak counter is climbing. This is the longitudinal data that clinical decisions need.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what's actually built.
[DEMO MOMENT: This is where we'd do the live demo. Walk through the three features in this order:]
Feature one — Voice coaching. Open http://localhost:3000. Point out the microphone button in the bottom-right corner. Click it. Within a few seconds you'll hear the AI coach's voice. Introduce yourself as a patient with lower-back pain. The coach responds with PRT-grounded guidance — asking you to observe the sensation with curiosity rather than fear.
Feature two — Pain logging and the dashboard. From the browser console, run:
  window.SomaAI.logPainReport("lower_back", "sharp", 7, 2, "After sitting");or just run the actual thing by talking lol
Then click the progress button. The dashboard populates with the data point.
Feature three — The Unity bridge. This is the technical foundation for how Unity and the web layer talk. Show window.SomaAI.isReady() returning true. This means any button inside the Unity game can fire the voice coach or log data.
[If demoing live, add multi-day data before the call to show trend lines. See DEMO_TESTING_GUIDE.md for the script.]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 and I'll keep this brief because this is a clinical conversation, not an engineering one.
The system has three clean layers.
The patient layer is the Unity game. This is what patients see. It's a browser-based experience, no install required. We chose Unity specifically for the 3D body-map and somatic feedback loops — it lets us build interactions that a web form simply cannot.
The coaching layer is Next.js hosting everything together, plus ElevenLabs for the voice sessions. ElevenLabs was chosen because it supports "signed URLs" — we can inject clinical context (region, quality, severity) into the conversation before the patient even says a word.
The intelligence layer is Python. We've built a RAG pipeline over PRT clinical materials, a policy document (version 2) that defines what the coach can and can't say, and a 10,000-row dataset of PRT-grounded coaching scenarios. This is what makes the coach sound like a PRT practitioner rather than a generic chatbot.
The important thing for today: this architecture is production-scalable. The demo uses browser-side session storage; the post-approval roadmap adds a real database and user accounts.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safeguards, because I know this matters to you.
First: clinical grounding. The AI coach doesn't free-form. It operates within a defined PRT framework. The coaching language mirrors what a trained PRT therapist would say — focusing on curiosity, safety, and somatic awareness rather than pain management in the traditional sense.
Second: the policy document. policy_v2.json is the coach's rulebook. It's a structured JSON file, not buried in code. You can open it in any text editor. It defines what topics the coach can address, what it must redirect, and how it should respond to clinical risk signals. This is auditable.
Third: escalation. If a patient mentions anything in the safety-critical list — suicidal ideation, acute neurological symptoms, medication misuse — the coach does not continue the conversation. It redirects to appropriate emergency resources. This is hard-coded in the policy, not dependent on the LLM.
Fourth: privacy. We've completed CITI Health Privacy training. The demo transmits no PII to external servers. The informed consent flow is a required step before any patient data is collected in the real pilot.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a document that clinician’s can </a:t>
            </a:r>
            <a:r>
              <a:rPr lang="en-US" dirty="0" err="1"/>
              <a:t>chage</a:t>
            </a:r>
            <a:r>
              <a:rPr lang="en-US" dirty="0"/>
              <a:t>, in near English and it affects how the AI/system works.</a:t>
            </a:r>
          </a:p>
        </p:txBody>
      </p:sp>
    </p:spTree>
    <p:extLst>
      <p:ext uri="{BB962C8B-B14F-4D97-AF65-F5344CB8AC3E}">
        <p14:creationId xmlns:p14="http://schemas.microsoft.com/office/powerpoint/2010/main" val="3187356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pilot would actually look like.
We're proposing 5 to 10 patients, recruiting from a chronic pain population — adults 18 and over. This is a feasibility and safety pilot, not a powered efficacy trial. The goal is to validate the system's usability, safety, and preliminary signal on pain outcomes.
The primary outcomes are pain trend over 4 weeks using the Numeric Rating Scale, and engagement metrics — how often patients show up, and whether they complete sessions. We'd add BPI and PCS-4 as secondary measures before and after.
The timeline is roughly 11 weeks from IRB submission to pilot report. We could potentially run the active patient phase in Weeks 6–9 if IRB moves quickly.
I want to be clear about what this pilot is not: it's not powered for statistical significance, it doesn't include a control arm, and it won't produce publication-ready efficacy data. It will produce: a safety record, usability data, and preliminary outcome signal that will inform a Phase 2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Assuming you approve the pilot, here's the sequenced roadmap.
These five steps are in dependency order. You can't run a real pilot without IRB clearance and consent — so that's first and not optional. Authentication comes next because you can't collect real patient data in a shared browser session. Database persistence follows authentication because you need a real user before you can tie data to them.
Steps 4 and 5 — the standardized outcome measures and the researcher portal — are the components that turn this from a demo into a clinical research instrument.
I want to be honest: this roadmap is approximately 6–8 weeks of development work after IRB approval is received. The infrastructure is designed for exactly this path — we're not rebuilding anything, we're adding to what exists.
One thing I'd welcome your guidance on: are there specific outcome instruments you'd prefer for this population beyond BPI and PCS-4? That's a clinical judgment I'd want your input on before we build the assessment screens.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 keep it simple and direct.
[Pause. Let the room settle.]
We've built a working system grounded in PRT, with in-browser voice coaching, longitudinal pain tracking, and clinical safety baked in from day one. It works. You can try it today.
The only thing standing between this demo and a real clinical trial is your approval.
I have three asks:
A — Your approval in principle to proceed with the pilot design. That's the gate.
B — Your guidance on outcome instruments. BPI and PCS-4 are our current plan, but if you have a preferred tool for this population, I want to build around it.
C — IRB submission. We are ready to draft the protocol as soon as we leave this room.
[Leave time for questions. Suggested questions to prepare for:]
- "What does the coach say if a patient is in severe pain?" → Walk through the escalation policy.
- "How do you handle data privacy?" → CITI training, localStorage only in demo, IRB consent flow is the first post-approval step.
- "What if ElevenLabs goes down?" → The app degrades gracefully; voice is a feature, not the only interaction.
- "Have you done any user testing?" → Demo-ready, no patient testing yet — that's the pilot.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txBody>
          <a:bodyPr/>
          <a:lstStyle/>
          <a:p>
            <a:endParaRPr lang="en-US" sz="2800"/>
          </a:p>
        </p:txBody>
      </p:sp>
      <p:sp>
        <p:nvSpPr>
          <p:cNvPr id="3" name="Shape 1"/>
          <p:cNvSpPr/>
          <p:nvPr/>
        </p:nvSpPr>
        <p:spPr>
          <a:xfrm>
            <a:off x="7132320" y="-1005840"/>
            <a:ext cx="3200400" cy="3200400"/>
          </a:xfrm>
          <a:prstGeom prst="ellipse">
            <a:avLst/>
          </a:prstGeom>
          <a:solidFill>
            <a:srgbClr val="00B4A0">
              <a:alpha val="15000"/>
            </a:srgbClr>
          </a:solidFill>
          <a:ln w="12700">
            <a:solidFill>
              <a:srgbClr val="00B4A0"/>
            </a:solidFill>
            <a:prstDash val="solid"/>
          </a:ln>
        </p:spPr>
        <p:txBody>
          <a:bodyPr/>
          <a:lstStyle/>
          <a:p>
            <a:endParaRPr lang="en-US" sz="2800"/>
          </a:p>
        </p:txBody>
      </p:sp>
      <p:sp>
        <p:nvSpPr>
          <p:cNvPr id="4" name="Shape 2"/>
          <p:cNvSpPr/>
          <p:nvPr/>
        </p:nvSpPr>
        <p:spPr>
          <a:xfrm>
            <a:off x="7772400" y="3474720"/>
            <a:ext cx="1828800" cy="1828800"/>
          </a:xfrm>
          <a:prstGeom prst="ellipse">
            <a:avLst/>
          </a:prstGeom>
          <a:solidFill>
            <a:srgbClr val="0D7A8A">
              <a:alpha val="25000"/>
            </a:srgbClr>
          </a:solidFill>
          <a:ln w="12700">
            <a:solidFill>
              <a:srgbClr val="0D7A8A"/>
            </a:solidFill>
            <a:prstDash val="solid"/>
          </a:ln>
        </p:spPr>
        <p:txBody>
          <a:bodyPr/>
          <a:lstStyle/>
          <a:p>
            <a:endParaRPr lang="en-US" sz="2800"/>
          </a:p>
        </p:txBody>
      </p:sp>
      <p:sp>
        <p:nvSpPr>
          <p:cNvPr id="5" name="Text 3"/>
          <p:cNvSpPr/>
          <p:nvPr/>
        </p:nvSpPr>
        <p:spPr>
          <a:xfrm>
            <a:off x="457200" y="914400"/>
            <a:ext cx="6400800" cy="914400"/>
          </a:xfrm>
          <a:prstGeom prst="rect">
            <a:avLst/>
          </a:prstGeom>
          <a:noFill/>
          <a:ln/>
        </p:spPr>
        <p:txBody>
          <a:bodyPr wrap="square" lIns="0" tIns="0" rIns="0" bIns="0" rtlCol="0" anchor="ctr"/>
          <a:lstStyle/>
          <a:p>
            <a:pPr marL="0" indent="0" algn="l">
              <a:buNone/>
            </a:pPr>
            <a:r>
              <a:rPr lang="en-US" sz="6600" b="1" dirty="0">
                <a:solidFill>
                  <a:srgbClr val="FFFFFF"/>
                </a:solidFill>
                <a:latin typeface="Trebuchet MS" pitchFamily="34" charset="0"/>
                <a:ea typeface="Trebuchet MS" pitchFamily="34" charset="-122"/>
                <a:cs typeface="Trebuchet MS" pitchFamily="34" charset="-120"/>
              </a:rPr>
              <a:t>SomaAI</a:t>
            </a:r>
            <a:endParaRPr lang="en-US" sz="6600" dirty="0"/>
          </a:p>
        </p:txBody>
      </p:sp>
      <p:sp>
        <p:nvSpPr>
          <p:cNvPr id="6" name="Shape 4"/>
          <p:cNvSpPr/>
          <p:nvPr/>
        </p:nvSpPr>
        <p:spPr>
          <a:xfrm>
            <a:off x="457200" y="1847088"/>
            <a:ext cx="2926080" cy="41148"/>
          </a:xfrm>
          <a:prstGeom prst="rect">
            <a:avLst/>
          </a:prstGeom>
          <a:solidFill>
            <a:srgbClr val="00B4A0"/>
          </a:solidFill>
          <a:ln w="12700">
            <a:solidFill>
              <a:srgbClr val="00B4A0"/>
            </a:solidFill>
            <a:prstDash val="solid"/>
          </a:ln>
        </p:spPr>
        <p:txBody>
          <a:bodyPr/>
          <a:lstStyle/>
          <a:p>
            <a:endParaRPr lang="en-US" sz="2800"/>
          </a:p>
        </p:txBody>
      </p:sp>
      <p:sp>
        <p:nvSpPr>
          <p:cNvPr id="7" name="Text 5"/>
          <p:cNvSpPr/>
          <p:nvPr/>
        </p:nvSpPr>
        <p:spPr>
          <a:xfrm>
            <a:off x="457200" y="1965960"/>
            <a:ext cx="6858000" cy="914400"/>
          </a:xfrm>
          <a:prstGeom prst="rect">
            <a:avLst/>
          </a:prstGeom>
          <a:noFill/>
          <a:ln/>
        </p:spPr>
        <p:txBody>
          <a:bodyPr wrap="square" lIns="0" tIns="0" rIns="0" bIns="0" rtlCol="0" anchor="ctr"/>
          <a:lstStyle/>
          <a:p>
            <a:pPr marL="0" indent="0" algn="l">
              <a:buNone/>
            </a:pPr>
            <a:r>
              <a:rPr lang="en-US" sz="3200" dirty="0">
                <a:solidFill>
                  <a:srgbClr val="E0F5F3"/>
                </a:solidFill>
                <a:latin typeface="Trebuchet MS" pitchFamily="34" charset="0"/>
                <a:ea typeface="Trebuchet MS" pitchFamily="34" charset="-122"/>
                <a:cs typeface="Trebuchet MS" pitchFamily="34" charset="-120"/>
              </a:rPr>
              <a:t>A Gamified Somatic Tracking App</a:t>
            </a:r>
            <a:endParaRPr lang="en-US" sz="3200" dirty="0"/>
          </a:p>
          <a:p>
            <a:pPr marL="0" indent="0" algn="l">
              <a:buNone/>
            </a:pPr>
            <a:r>
              <a:rPr lang="en-US" sz="3200" dirty="0">
                <a:solidFill>
                  <a:srgbClr val="E0F5F3"/>
                </a:solidFill>
                <a:latin typeface="Trebuchet MS" pitchFamily="34" charset="0"/>
                <a:ea typeface="Trebuchet MS" pitchFamily="34" charset="-122"/>
                <a:cs typeface="Trebuchet MS" pitchFamily="34" charset="-120"/>
              </a:rPr>
              <a:t>for Chronic Pain Management</a:t>
            </a:r>
            <a:endParaRPr lang="en-US" sz="3200" dirty="0"/>
          </a:p>
        </p:txBody>
      </p:sp>
      <p:sp>
        <p:nvSpPr>
          <p:cNvPr id="8" name="Shape 6"/>
          <p:cNvSpPr/>
          <p:nvPr/>
        </p:nvSpPr>
        <p:spPr>
          <a:xfrm>
            <a:off x="457200" y="3017520"/>
            <a:ext cx="3200400" cy="18288"/>
          </a:xfrm>
          <a:prstGeom prst="rect">
            <a:avLst/>
          </a:prstGeom>
          <a:solidFill>
            <a:srgbClr val="0D7A8A">
              <a:alpha val="60000"/>
            </a:srgbClr>
          </a:solidFill>
          <a:ln w="12700">
            <a:solidFill>
              <a:srgbClr val="0D7A8A"/>
            </a:solidFill>
            <a:prstDash val="solid"/>
          </a:ln>
        </p:spPr>
        <p:txBody>
          <a:bodyPr/>
          <a:lstStyle/>
          <a:p>
            <a:endParaRPr lang="en-US" sz="2800"/>
          </a:p>
        </p:txBody>
      </p:sp>
      <p:sp>
        <p:nvSpPr>
          <p:cNvPr id="9" name="Text 7"/>
          <p:cNvSpPr/>
          <p:nvPr/>
        </p:nvSpPr>
        <p:spPr>
          <a:xfrm>
            <a:off x="457200" y="3154680"/>
            <a:ext cx="6400800" cy="411480"/>
          </a:xfrm>
          <a:prstGeom prst="rect">
            <a:avLst/>
          </a:prstGeom>
          <a:noFill/>
          <a:ln/>
        </p:spPr>
        <p:txBody>
          <a:bodyPr wrap="square" lIns="0" tIns="0" rIns="0" bIns="0" rtlCol="0" anchor="ctr"/>
          <a:lstStyle/>
          <a:p>
            <a:pPr marL="0" indent="0" algn="l">
              <a:buNone/>
            </a:pPr>
            <a:r>
              <a:rPr lang="en-US" dirty="0">
                <a:solidFill>
                  <a:srgbClr val="7A9BAA"/>
                </a:solidFill>
                <a:latin typeface="Calibri" pitchFamily="34" charset="0"/>
                <a:ea typeface="Calibri" pitchFamily="34" charset="-122"/>
                <a:cs typeface="Calibri" pitchFamily="34" charset="-120"/>
              </a:rPr>
              <a:t>Clinical Demo  ·  Michael Olaoye, Prof. Michael Guerrero  ·  2026</a:t>
            </a:r>
            <a:endParaRPr lang="en-US" dirty="0"/>
          </a:p>
        </p:txBody>
      </p:sp>
      <p:sp>
        <p:nvSpPr>
          <p:cNvPr id="10" name="Shape 8"/>
          <p:cNvSpPr/>
          <p:nvPr/>
        </p:nvSpPr>
        <p:spPr>
          <a:xfrm>
            <a:off x="7571232" y="804672"/>
            <a:ext cx="950976" cy="950976"/>
          </a:xfrm>
          <a:prstGeom prst="ellipse">
            <a:avLst/>
          </a:prstGeom>
          <a:solidFill>
            <a:srgbClr val="0D7A8A"/>
          </a:solidFill>
          <a:ln w="12700">
            <a:solidFill>
              <a:srgbClr val="0D7A8A"/>
            </a:solidFill>
            <a:prstDash val="solid"/>
          </a:ln>
        </p:spPr>
        <p:txBody>
          <a:bodyPr/>
          <a:lstStyle/>
          <a:p>
            <a:endParaRPr lang="en-US" sz="2800"/>
          </a:p>
        </p:txBody>
      </p:sp>
      <p:pic>
        <p:nvPicPr>
          <p:cNvPr id="11" name="Image 0" descr="preencoded.png"/>
          <p:cNvPicPr>
            <a:picLocks noChangeAspect="1"/>
          </p:cNvPicPr>
          <p:nvPr/>
        </p:nvPicPr>
        <p:blipFill>
          <a:blip r:embed="rId3"/>
          <a:stretch>
            <a:fillRect/>
          </a:stretch>
        </p:blipFill>
        <p:spPr>
          <a:xfrm>
            <a:off x="7808976" y="1042416"/>
            <a:ext cx="475488" cy="475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Chronic Pain Is Undertreated &amp; Misunderstood</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a:p>
        </p:txBody>
      </p:sp>
      <p:sp>
        <p:nvSpPr>
          <p:cNvPr id="4" name="Shape 2"/>
          <p:cNvSpPr/>
          <p:nvPr/>
        </p:nvSpPr>
        <p:spPr>
          <a:xfrm>
            <a:off x="347472" y="868680"/>
            <a:ext cx="4663440" cy="356616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47472" y="868680"/>
            <a:ext cx="64008" cy="3566160"/>
          </a:xfrm>
          <a:prstGeom prst="rect">
            <a:avLst/>
          </a:prstGeom>
          <a:solidFill>
            <a:srgbClr val="0D7A8A"/>
          </a:solidFill>
          <a:ln w="12700">
            <a:solidFill>
              <a:srgbClr val="0D7A8A"/>
            </a:solidFill>
            <a:prstDash val="solid"/>
          </a:ln>
        </p:spPr>
        <p:txBody>
          <a:bodyPr/>
          <a:lstStyle/>
          <a:p>
            <a:endParaRPr lang="en-US"/>
          </a:p>
        </p:txBody>
      </p:sp>
      <p:sp>
        <p:nvSpPr>
          <p:cNvPr id="6" name="Text 4"/>
          <p:cNvSpPr/>
          <p:nvPr/>
        </p:nvSpPr>
        <p:spPr>
          <a:xfrm>
            <a:off x="566928" y="987552"/>
            <a:ext cx="4297680" cy="347472"/>
          </a:xfrm>
          <a:prstGeom prst="rect">
            <a:avLst/>
          </a:prstGeom>
          <a:noFill/>
          <a:ln/>
        </p:spPr>
        <p:txBody>
          <a:bodyPr wrap="square" lIns="0" tIns="0" rIns="0" bIns="0" rtlCol="0" anchor="ctr"/>
          <a:lstStyle/>
          <a:p>
            <a:pPr marL="0" indent="0">
              <a:buNone/>
            </a:pPr>
            <a:r>
              <a:rPr lang="en-US" sz="1400" b="1" dirty="0">
                <a:solidFill>
                  <a:srgbClr val="1A2E35"/>
                </a:solidFill>
                <a:latin typeface="Trebuchet MS" pitchFamily="34" charset="0"/>
                <a:ea typeface="Trebuchet MS" pitchFamily="34" charset="-122"/>
                <a:cs typeface="Trebuchet MS" pitchFamily="34" charset="-120"/>
              </a:rPr>
              <a:t>The Scale of the Problem</a:t>
            </a:r>
            <a:endParaRPr lang="en-US" sz="1400" dirty="0"/>
          </a:p>
        </p:txBody>
      </p:sp>
      <p:sp>
        <p:nvSpPr>
          <p:cNvPr id="7" name="Text 5"/>
          <p:cNvSpPr/>
          <p:nvPr/>
        </p:nvSpPr>
        <p:spPr>
          <a:xfrm>
            <a:off x="566928" y="1417320"/>
            <a:ext cx="4297680" cy="28346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4A6572"/>
                </a:solidFill>
                <a:latin typeface="Calibri" pitchFamily="34" charset="0"/>
                <a:ea typeface="Calibri" pitchFamily="34" charset="-122"/>
                <a:cs typeface="Calibri" pitchFamily="34" charset="-120"/>
              </a:rPr>
              <a:t>50 million Americans live with chronic pain — the #1 cause of disability in the US</a:t>
            </a:r>
            <a:endParaRPr lang="en-US" sz="1400" dirty="0"/>
          </a:p>
          <a:p>
            <a:pPr marL="342900" indent="-342900">
              <a:spcAft>
                <a:spcPts val="600"/>
              </a:spcAft>
              <a:buSzPct val="100000"/>
              <a:buChar char="•"/>
            </a:pPr>
            <a:r>
              <a:rPr lang="en-US" sz="1400" dirty="0">
                <a:solidFill>
                  <a:srgbClr val="4A6572"/>
                </a:solidFill>
                <a:latin typeface="Calibri" pitchFamily="34" charset="0"/>
                <a:ea typeface="Calibri" pitchFamily="34" charset="-122"/>
                <a:cs typeface="Calibri" pitchFamily="34" charset="-120"/>
              </a:rPr>
              <a:t>Patients wait an average of 5–7 years for a correct diagnosis</a:t>
            </a:r>
            <a:endParaRPr lang="en-US" sz="1400" dirty="0"/>
          </a:p>
          <a:p>
            <a:pPr marL="342900" indent="-342900">
              <a:spcAft>
                <a:spcPts val="600"/>
              </a:spcAft>
              <a:buSzPct val="100000"/>
              <a:buChar char="•"/>
            </a:pPr>
            <a:r>
              <a:rPr lang="en-US" sz="1400" dirty="0">
                <a:solidFill>
                  <a:srgbClr val="4A6572"/>
                </a:solidFill>
                <a:latin typeface="Calibri" pitchFamily="34" charset="0"/>
                <a:ea typeface="Calibri" pitchFamily="34" charset="-122"/>
                <a:cs typeface="Calibri" pitchFamily="34" charset="-120"/>
              </a:rPr>
              <a:t>Opioid prescriptions remain a default, despite limited long-term efficacy</a:t>
            </a:r>
            <a:endParaRPr lang="en-US" sz="1400" dirty="0"/>
          </a:p>
          <a:p>
            <a:pPr marL="342900" indent="-342900">
              <a:spcAft>
                <a:spcPts val="600"/>
              </a:spcAft>
              <a:buSzPct val="100000"/>
              <a:buChar char="•"/>
            </a:pPr>
            <a:r>
              <a:rPr lang="en-US" sz="1400" dirty="0">
                <a:solidFill>
                  <a:srgbClr val="4A6572"/>
                </a:solidFill>
                <a:latin typeface="Calibri" pitchFamily="34" charset="0"/>
                <a:ea typeface="Calibri" pitchFamily="34" charset="-122"/>
                <a:cs typeface="Calibri" pitchFamily="34" charset="-120"/>
              </a:rPr>
              <a:t>Most digital health tools track symptoms, but don't address the central sensitization driving the pain</a:t>
            </a:r>
            <a:endParaRPr lang="en-US" sz="1400" dirty="0"/>
          </a:p>
          <a:p>
            <a:pPr marL="342900" indent="-342900">
              <a:spcAft>
                <a:spcPts val="600"/>
              </a:spcAft>
              <a:buSzPct val="100000"/>
              <a:buChar char="•"/>
            </a:pPr>
            <a:r>
              <a:rPr lang="en-US" sz="1400" dirty="0">
                <a:solidFill>
                  <a:srgbClr val="4A6572"/>
                </a:solidFill>
                <a:latin typeface="Calibri" pitchFamily="34" charset="0"/>
                <a:ea typeface="Calibri" pitchFamily="34" charset="-122"/>
                <a:cs typeface="Calibri" pitchFamily="34" charset="-120"/>
              </a:rPr>
              <a:t>Fear-avoidance behaviors reinforce the pain cycle — no current app breaks this loop</a:t>
            </a:r>
            <a:endParaRPr lang="en-US" sz="1400" dirty="0"/>
          </a:p>
        </p:txBody>
      </p:sp>
      <p:sp>
        <p:nvSpPr>
          <p:cNvPr id="8" name="Shape 6"/>
          <p:cNvSpPr/>
          <p:nvPr/>
        </p:nvSpPr>
        <p:spPr>
          <a:xfrm>
            <a:off x="5212080" y="868680"/>
            <a:ext cx="3566160" cy="107899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5212080" y="868680"/>
            <a:ext cx="64008" cy="1078992"/>
          </a:xfrm>
          <a:prstGeom prst="rect">
            <a:avLst/>
          </a:prstGeom>
          <a:solidFill>
            <a:srgbClr val="0D7A8A"/>
          </a:solidFill>
          <a:ln w="12700">
            <a:solidFill>
              <a:srgbClr val="0D7A8A"/>
            </a:solidFill>
            <a:prstDash val="solid"/>
          </a:ln>
        </p:spPr>
        <p:txBody>
          <a:bodyPr/>
          <a:lstStyle/>
          <a:p>
            <a:endParaRPr lang="en-US"/>
          </a:p>
        </p:txBody>
      </p:sp>
      <p:sp>
        <p:nvSpPr>
          <p:cNvPr id="10" name="Text 8"/>
          <p:cNvSpPr/>
          <p:nvPr/>
        </p:nvSpPr>
        <p:spPr>
          <a:xfrm>
            <a:off x="5440680" y="941832"/>
            <a:ext cx="3108960" cy="594360"/>
          </a:xfrm>
          <a:prstGeom prst="rect">
            <a:avLst/>
          </a:prstGeom>
          <a:noFill/>
          <a:ln/>
        </p:spPr>
        <p:txBody>
          <a:bodyPr wrap="square" lIns="0" tIns="0" rIns="0" bIns="0" rtlCol="0" anchor="ctr"/>
          <a:lstStyle/>
          <a:p>
            <a:pPr marL="0" indent="0">
              <a:buNone/>
            </a:pPr>
            <a:r>
              <a:rPr lang="en-US" sz="4000" b="1" dirty="0">
                <a:solidFill>
                  <a:srgbClr val="0D7A8A"/>
                </a:solidFill>
                <a:latin typeface="Trebuchet MS" pitchFamily="34" charset="0"/>
                <a:ea typeface="Trebuchet MS" pitchFamily="34" charset="-122"/>
                <a:cs typeface="Trebuchet MS" pitchFamily="34" charset="-120"/>
              </a:rPr>
              <a:t>50M</a:t>
            </a:r>
            <a:endParaRPr lang="en-US" sz="4000" dirty="0"/>
          </a:p>
        </p:txBody>
      </p:sp>
      <p:sp>
        <p:nvSpPr>
          <p:cNvPr id="11" name="Text 9"/>
          <p:cNvSpPr/>
          <p:nvPr/>
        </p:nvSpPr>
        <p:spPr>
          <a:xfrm>
            <a:off x="5440680" y="1527048"/>
            <a:ext cx="3108960" cy="329184"/>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Americans with chronic pain</a:t>
            </a:r>
            <a:endParaRPr lang="en-US" sz="1100" dirty="0"/>
          </a:p>
        </p:txBody>
      </p:sp>
      <p:sp>
        <p:nvSpPr>
          <p:cNvPr id="12" name="Shape 10"/>
          <p:cNvSpPr/>
          <p:nvPr/>
        </p:nvSpPr>
        <p:spPr>
          <a:xfrm>
            <a:off x="5212080" y="2075688"/>
            <a:ext cx="3566160" cy="107899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5212080" y="2075688"/>
            <a:ext cx="64008" cy="1078992"/>
          </a:xfrm>
          <a:prstGeom prst="rect">
            <a:avLst/>
          </a:prstGeom>
          <a:solidFill>
            <a:srgbClr val="E09A22"/>
          </a:solidFill>
          <a:ln w="12700">
            <a:solidFill>
              <a:srgbClr val="E09A22"/>
            </a:solidFill>
            <a:prstDash val="solid"/>
          </a:ln>
        </p:spPr>
        <p:txBody>
          <a:bodyPr/>
          <a:lstStyle/>
          <a:p>
            <a:endParaRPr lang="en-US"/>
          </a:p>
        </p:txBody>
      </p:sp>
      <p:sp>
        <p:nvSpPr>
          <p:cNvPr id="14" name="Text 12"/>
          <p:cNvSpPr/>
          <p:nvPr/>
        </p:nvSpPr>
        <p:spPr>
          <a:xfrm>
            <a:off x="5440680" y="2148840"/>
            <a:ext cx="3108960" cy="594360"/>
          </a:xfrm>
          <a:prstGeom prst="rect">
            <a:avLst/>
          </a:prstGeom>
          <a:noFill/>
          <a:ln/>
        </p:spPr>
        <p:txBody>
          <a:bodyPr wrap="square" lIns="0" tIns="0" rIns="0" bIns="0" rtlCol="0" anchor="ctr"/>
          <a:lstStyle/>
          <a:p>
            <a:pPr marL="0" indent="0">
              <a:buNone/>
            </a:pPr>
            <a:r>
              <a:rPr lang="en-US" sz="4000" b="1" dirty="0">
                <a:solidFill>
                  <a:srgbClr val="E09A22"/>
                </a:solidFill>
                <a:latin typeface="Trebuchet MS" pitchFamily="34" charset="0"/>
                <a:ea typeface="Trebuchet MS" pitchFamily="34" charset="-122"/>
                <a:cs typeface="Trebuchet MS" pitchFamily="34" charset="-120"/>
              </a:rPr>
              <a:t>5–7</a:t>
            </a:r>
            <a:endParaRPr lang="en-US" sz="4000" dirty="0"/>
          </a:p>
        </p:txBody>
      </p:sp>
      <p:sp>
        <p:nvSpPr>
          <p:cNvPr id="15" name="Text 13"/>
          <p:cNvSpPr/>
          <p:nvPr/>
        </p:nvSpPr>
        <p:spPr>
          <a:xfrm>
            <a:off x="5440680" y="2734056"/>
            <a:ext cx="3108960" cy="329184"/>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years avg. to correct diagnosis</a:t>
            </a:r>
            <a:endParaRPr lang="en-US" sz="1100" dirty="0"/>
          </a:p>
        </p:txBody>
      </p:sp>
      <p:sp>
        <p:nvSpPr>
          <p:cNvPr id="16" name="Shape 14"/>
          <p:cNvSpPr/>
          <p:nvPr/>
        </p:nvSpPr>
        <p:spPr>
          <a:xfrm>
            <a:off x="5212080" y="3282696"/>
            <a:ext cx="3566160" cy="107899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5212080" y="3282696"/>
            <a:ext cx="64008" cy="1078992"/>
          </a:xfrm>
          <a:prstGeom prst="rect">
            <a:avLst/>
          </a:prstGeom>
          <a:solidFill>
            <a:srgbClr val="E05252"/>
          </a:solidFill>
          <a:ln w="12700">
            <a:solidFill>
              <a:srgbClr val="E05252"/>
            </a:solidFill>
            <a:prstDash val="solid"/>
          </a:ln>
        </p:spPr>
        <p:txBody>
          <a:bodyPr/>
          <a:lstStyle/>
          <a:p>
            <a:endParaRPr lang="en-US"/>
          </a:p>
        </p:txBody>
      </p:sp>
      <p:sp>
        <p:nvSpPr>
          <p:cNvPr id="18" name="Text 16"/>
          <p:cNvSpPr/>
          <p:nvPr/>
        </p:nvSpPr>
        <p:spPr>
          <a:xfrm>
            <a:off x="5440680" y="3355848"/>
            <a:ext cx="3108960" cy="594360"/>
          </a:xfrm>
          <a:prstGeom prst="rect">
            <a:avLst/>
          </a:prstGeom>
          <a:noFill/>
          <a:ln/>
        </p:spPr>
        <p:txBody>
          <a:bodyPr wrap="square" lIns="0" tIns="0" rIns="0" bIns="0" rtlCol="0" anchor="ctr"/>
          <a:lstStyle/>
          <a:p>
            <a:pPr marL="0" indent="0">
              <a:buNone/>
            </a:pPr>
            <a:r>
              <a:rPr lang="en-US" sz="4000" b="1" dirty="0">
                <a:solidFill>
                  <a:srgbClr val="E05252"/>
                </a:solidFill>
                <a:latin typeface="Trebuchet MS" pitchFamily="34" charset="0"/>
                <a:ea typeface="Trebuchet MS" pitchFamily="34" charset="-122"/>
                <a:cs typeface="Trebuchet MS" pitchFamily="34" charset="-120"/>
              </a:rPr>
              <a:t>~30%</a:t>
            </a:r>
            <a:endParaRPr lang="en-US" sz="4000" dirty="0"/>
          </a:p>
        </p:txBody>
      </p:sp>
      <p:sp>
        <p:nvSpPr>
          <p:cNvPr id="19" name="Text 17"/>
          <p:cNvSpPr/>
          <p:nvPr/>
        </p:nvSpPr>
        <p:spPr>
          <a:xfrm>
            <a:off x="5440680" y="3941064"/>
            <a:ext cx="3108960" cy="329184"/>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of patients improve with current standard care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Pain Reprocessing Therapy + Gamification</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sz="2800"/>
          </a:p>
        </p:txBody>
      </p:sp>
      <p:sp>
        <p:nvSpPr>
          <p:cNvPr id="4" name="Shape 2"/>
          <p:cNvSpPr/>
          <p:nvPr/>
        </p:nvSpPr>
        <p:spPr>
          <a:xfrm>
            <a:off x="347472" y="804672"/>
            <a:ext cx="2743200" cy="393192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800"/>
          </a:p>
        </p:txBody>
      </p:sp>
      <p:sp>
        <p:nvSpPr>
          <p:cNvPr id="5" name="Shape 3"/>
          <p:cNvSpPr/>
          <p:nvPr/>
        </p:nvSpPr>
        <p:spPr>
          <a:xfrm>
            <a:off x="347472" y="804672"/>
            <a:ext cx="64008" cy="3931920"/>
          </a:xfrm>
          <a:prstGeom prst="rect">
            <a:avLst/>
          </a:prstGeom>
          <a:solidFill>
            <a:srgbClr val="0D7A8A"/>
          </a:solidFill>
          <a:ln w="12700">
            <a:solidFill>
              <a:srgbClr val="0D7A8A"/>
            </a:solidFill>
            <a:prstDash val="solid"/>
          </a:ln>
        </p:spPr>
        <p:txBody>
          <a:bodyPr/>
          <a:lstStyle/>
          <a:p>
            <a:endParaRPr lang="en-US" sz="2800"/>
          </a:p>
        </p:txBody>
      </p:sp>
      <p:sp>
        <p:nvSpPr>
          <p:cNvPr id="6" name="Shape 4"/>
          <p:cNvSpPr/>
          <p:nvPr/>
        </p:nvSpPr>
        <p:spPr>
          <a:xfrm>
            <a:off x="548640" y="932688"/>
            <a:ext cx="475488" cy="475488"/>
          </a:xfrm>
          <a:prstGeom prst="ellipse">
            <a:avLst/>
          </a:prstGeom>
          <a:solidFill>
            <a:srgbClr val="0D7A8A"/>
          </a:solidFill>
          <a:ln w="12700">
            <a:solidFill>
              <a:srgbClr val="0D7A8A"/>
            </a:solidFill>
            <a:prstDash val="solid"/>
          </a:ln>
        </p:spPr>
        <p:txBody>
          <a:bodyPr/>
          <a:lstStyle/>
          <a:p>
            <a:endParaRPr lang="en-US" sz="2800"/>
          </a:p>
        </p:txBody>
      </p:sp>
      <p:pic>
        <p:nvPicPr>
          <p:cNvPr id="7" name="Image 0" descr="preencoded.png"/>
          <p:cNvPicPr>
            <a:picLocks noChangeAspect="1"/>
          </p:cNvPicPr>
          <p:nvPr/>
        </p:nvPicPr>
        <p:blipFill>
          <a:blip r:embed="rId3"/>
          <a:stretch>
            <a:fillRect/>
          </a:stretch>
        </p:blipFill>
        <p:spPr>
          <a:xfrm>
            <a:off x="603504" y="987552"/>
            <a:ext cx="365760" cy="365760"/>
          </a:xfrm>
          <a:prstGeom prst="rect">
            <a:avLst/>
          </a:prstGeom>
        </p:spPr>
      </p:pic>
      <p:sp>
        <p:nvSpPr>
          <p:cNvPr id="8" name="Text 5"/>
          <p:cNvSpPr/>
          <p:nvPr/>
        </p:nvSpPr>
        <p:spPr>
          <a:xfrm>
            <a:off x="530352" y="1508760"/>
            <a:ext cx="2423160" cy="475488"/>
          </a:xfrm>
          <a:prstGeom prst="rect">
            <a:avLst/>
          </a:prstGeom>
          <a:noFill/>
          <a:ln/>
        </p:spPr>
        <p:txBody>
          <a:bodyPr wrap="square" lIns="0" tIns="0" rIns="0" bIns="0" rtlCol="0" anchor="ctr"/>
          <a:lstStyle/>
          <a:p>
            <a:pPr marL="0" indent="0">
              <a:buNone/>
            </a:pPr>
            <a:r>
              <a:rPr lang="en-US" b="1" dirty="0">
                <a:solidFill>
                  <a:srgbClr val="1A2E35"/>
                </a:solidFill>
                <a:latin typeface="Trebuchet MS" pitchFamily="34" charset="0"/>
                <a:ea typeface="Trebuchet MS" pitchFamily="34" charset="-122"/>
                <a:cs typeface="Trebuchet MS" pitchFamily="34" charset="-120"/>
              </a:rPr>
              <a:t>PRT Clinical Framework</a:t>
            </a:r>
            <a:endParaRPr lang="en-US" dirty="0"/>
          </a:p>
        </p:txBody>
      </p:sp>
      <p:sp>
        <p:nvSpPr>
          <p:cNvPr id="9" name="Text 6"/>
          <p:cNvSpPr/>
          <p:nvPr/>
        </p:nvSpPr>
        <p:spPr>
          <a:xfrm>
            <a:off x="530352" y="2057400"/>
            <a:ext cx="2423160" cy="25603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All coaching is grounded in Pain Reprocessing Therapy (Yoni Gordons lab, 2021)</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Patients learn to reinterpret pain signals as non-threatening</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Reduces fear-avoidance and catastrophizing</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Policy v2 defines safety escalation rules for the AI coach</a:t>
            </a:r>
            <a:endParaRPr lang="en-US" sz="1400" dirty="0"/>
          </a:p>
        </p:txBody>
      </p:sp>
      <p:sp>
        <p:nvSpPr>
          <p:cNvPr id="10" name="Shape 7"/>
          <p:cNvSpPr/>
          <p:nvPr/>
        </p:nvSpPr>
        <p:spPr>
          <a:xfrm>
            <a:off x="3291840" y="804672"/>
            <a:ext cx="2743200" cy="393192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800"/>
          </a:p>
        </p:txBody>
      </p:sp>
      <p:sp>
        <p:nvSpPr>
          <p:cNvPr id="11" name="Shape 8"/>
          <p:cNvSpPr/>
          <p:nvPr/>
        </p:nvSpPr>
        <p:spPr>
          <a:xfrm>
            <a:off x="3291840" y="804672"/>
            <a:ext cx="64008" cy="3931920"/>
          </a:xfrm>
          <a:prstGeom prst="rect">
            <a:avLst/>
          </a:prstGeom>
          <a:solidFill>
            <a:srgbClr val="0D7A8A"/>
          </a:solidFill>
          <a:ln w="12700">
            <a:solidFill>
              <a:srgbClr val="0D7A8A"/>
            </a:solidFill>
            <a:prstDash val="solid"/>
          </a:ln>
        </p:spPr>
        <p:txBody>
          <a:bodyPr/>
          <a:lstStyle/>
          <a:p>
            <a:endParaRPr lang="en-US" sz="2800"/>
          </a:p>
        </p:txBody>
      </p:sp>
      <p:sp>
        <p:nvSpPr>
          <p:cNvPr id="12" name="Shape 9"/>
          <p:cNvSpPr/>
          <p:nvPr/>
        </p:nvSpPr>
        <p:spPr>
          <a:xfrm>
            <a:off x="3493008" y="932688"/>
            <a:ext cx="475488" cy="475488"/>
          </a:xfrm>
          <a:prstGeom prst="ellipse">
            <a:avLst/>
          </a:prstGeom>
          <a:solidFill>
            <a:srgbClr val="0D7A8A"/>
          </a:solidFill>
          <a:ln w="12700">
            <a:solidFill>
              <a:srgbClr val="0D7A8A"/>
            </a:solidFill>
            <a:prstDash val="solid"/>
          </a:ln>
        </p:spPr>
        <p:txBody>
          <a:bodyPr/>
          <a:lstStyle/>
          <a:p>
            <a:endParaRPr lang="en-US" sz="2800"/>
          </a:p>
        </p:txBody>
      </p:sp>
      <p:pic>
        <p:nvPicPr>
          <p:cNvPr id="13" name="Image 1" descr="preencoded.png"/>
          <p:cNvPicPr>
            <a:picLocks noChangeAspect="1"/>
          </p:cNvPicPr>
          <p:nvPr/>
        </p:nvPicPr>
        <p:blipFill>
          <a:blip r:embed="rId4"/>
          <a:stretch>
            <a:fillRect/>
          </a:stretch>
        </p:blipFill>
        <p:spPr>
          <a:xfrm>
            <a:off x="3547872" y="987552"/>
            <a:ext cx="365760" cy="365760"/>
          </a:xfrm>
          <a:prstGeom prst="rect">
            <a:avLst/>
          </a:prstGeom>
        </p:spPr>
      </p:pic>
      <p:sp>
        <p:nvSpPr>
          <p:cNvPr id="14" name="Text 10"/>
          <p:cNvSpPr/>
          <p:nvPr/>
        </p:nvSpPr>
        <p:spPr>
          <a:xfrm>
            <a:off x="3474720" y="1508760"/>
            <a:ext cx="2423160" cy="475488"/>
          </a:xfrm>
          <a:prstGeom prst="rect">
            <a:avLst/>
          </a:prstGeom>
          <a:noFill/>
          <a:ln/>
        </p:spPr>
        <p:txBody>
          <a:bodyPr wrap="square" lIns="0" tIns="0" rIns="0" bIns="0" rtlCol="0" anchor="ctr"/>
          <a:lstStyle/>
          <a:p>
            <a:pPr marL="0" indent="0">
              <a:buNone/>
            </a:pPr>
            <a:r>
              <a:rPr lang="en-US" b="1" dirty="0">
                <a:solidFill>
                  <a:srgbClr val="1A2E35"/>
                </a:solidFill>
                <a:latin typeface="Trebuchet MS" pitchFamily="34" charset="0"/>
                <a:ea typeface="Trebuchet MS" pitchFamily="34" charset="-122"/>
                <a:cs typeface="Trebuchet MS" pitchFamily="34" charset="-120"/>
              </a:rPr>
              <a:t>Gamified Engagement</a:t>
            </a:r>
            <a:endParaRPr lang="en-US" dirty="0"/>
          </a:p>
        </p:txBody>
      </p:sp>
      <p:sp>
        <p:nvSpPr>
          <p:cNvPr id="15" name="Text 11"/>
          <p:cNvSpPr/>
          <p:nvPr/>
        </p:nvSpPr>
        <p:spPr>
          <a:xfrm>
            <a:off x="3474720" y="2057400"/>
            <a:ext cx="2423160" cy="25603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Unity WebGL game (Soma+) provides the patient-facing experience</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Body-map interface for somatic tracking</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Session streaks, adherence scoring, and progress feedback</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Designed to improve retention vs. standard symptom diaries</a:t>
            </a:r>
            <a:endParaRPr lang="en-US" sz="1400" dirty="0"/>
          </a:p>
        </p:txBody>
      </p:sp>
      <p:sp>
        <p:nvSpPr>
          <p:cNvPr id="16" name="Shape 12"/>
          <p:cNvSpPr/>
          <p:nvPr/>
        </p:nvSpPr>
        <p:spPr>
          <a:xfrm>
            <a:off x="6236208" y="804672"/>
            <a:ext cx="2743200" cy="393192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800"/>
          </a:p>
        </p:txBody>
      </p:sp>
      <p:sp>
        <p:nvSpPr>
          <p:cNvPr id="17" name="Shape 13"/>
          <p:cNvSpPr/>
          <p:nvPr/>
        </p:nvSpPr>
        <p:spPr>
          <a:xfrm>
            <a:off x="6236208" y="804672"/>
            <a:ext cx="64008" cy="3931920"/>
          </a:xfrm>
          <a:prstGeom prst="rect">
            <a:avLst/>
          </a:prstGeom>
          <a:solidFill>
            <a:srgbClr val="0D7A8A"/>
          </a:solidFill>
          <a:ln w="12700">
            <a:solidFill>
              <a:srgbClr val="0D7A8A"/>
            </a:solidFill>
            <a:prstDash val="solid"/>
          </a:ln>
        </p:spPr>
        <p:txBody>
          <a:bodyPr/>
          <a:lstStyle/>
          <a:p>
            <a:endParaRPr lang="en-US" sz="2800"/>
          </a:p>
        </p:txBody>
      </p:sp>
      <p:sp>
        <p:nvSpPr>
          <p:cNvPr id="18" name="Shape 14"/>
          <p:cNvSpPr/>
          <p:nvPr/>
        </p:nvSpPr>
        <p:spPr>
          <a:xfrm>
            <a:off x="6437376" y="932688"/>
            <a:ext cx="475488" cy="475488"/>
          </a:xfrm>
          <a:prstGeom prst="ellipse">
            <a:avLst/>
          </a:prstGeom>
          <a:solidFill>
            <a:srgbClr val="0D7A8A"/>
          </a:solidFill>
          <a:ln w="12700">
            <a:solidFill>
              <a:srgbClr val="0D7A8A"/>
            </a:solidFill>
            <a:prstDash val="solid"/>
          </a:ln>
        </p:spPr>
        <p:txBody>
          <a:bodyPr/>
          <a:lstStyle/>
          <a:p>
            <a:endParaRPr lang="en-US" sz="2800"/>
          </a:p>
        </p:txBody>
      </p:sp>
      <p:pic>
        <p:nvPicPr>
          <p:cNvPr id="19" name="Image 2" descr="preencoded.png"/>
          <p:cNvPicPr>
            <a:picLocks noChangeAspect="1"/>
          </p:cNvPicPr>
          <p:nvPr/>
        </p:nvPicPr>
        <p:blipFill>
          <a:blip r:embed="rId5"/>
          <a:stretch>
            <a:fillRect/>
          </a:stretch>
        </p:blipFill>
        <p:spPr>
          <a:xfrm>
            <a:off x="6492240" y="987552"/>
            <a:ext cx="365760" cy="365760"/>
          </a:xfrm>
          <a:prstGeom prst="rect">
            <a:avLst/>
          </a:prstGeom>
        </p:spPr>
      </p:pic>
      <p:sp>
        <p:nvSpPr>
          <p:cNvPr id="20" name="Text 15"/>
          <p:cNvSpPr/>
          <p:nvPr/>
        </p:nvSpPr>
        <p:spPr>
          <a:xfrm>
            <a:off x="6419088" y="1508760"/>
            <a:ext cx="2423160" cy="475488"/>
          </a:xfrm>
          <a:prstGeom prst="rect">
            <a:avLst/>
          </a:prstGeom>
          <a:noFill/>
          <a:ln/>
        </p:spPr>
        <p:txBody>
          <a:bodyPr wrap="square" lIns="0" tIns="0" rIns="0" bIns="0" rtlCol="0" anchor="ctr"/>
          <a:lstStyle/>
          <a:p>
            <a:pPr marL="0" indent="0">
              <a:buNone/>
            </a:pPr>
            <a:r>
              <a:rPr lang="en-US" b="1" dirty="0">
                <a:solidFill>
                  <a:srgbClr val="1A2E35"/>
                </a:solidFill>
                <a:latin typeface="Trebuchet MS" pitchFamily="34" charset="0"/>
                <a:ea typeface="Trebuchet MS" pitchFamily="34" charset="-122"/>
                <a:cs typeface="Trebuchet MS" pitchFamily="34" charset="-120"/>
              </a:rPr>
              <a:t>Longitudinal Tracking</a:t>
            </a:r>
            <a:endParaRPr lang="en-US" dirty="0"/>
          </a:p>
        </p:txBody>
      </p:sp>
      <p:sp>
        <p:nvSpPr>
          <p:cNvPr id="21" name="Text 16"/>
          <p:cNvSpPr/>
          <p:nvPr/>
        </p:nvSpPr>
        <p:spPr>
          <a:xfrm>
            <a:off x="6419088" y="2057400"/>
            <a:ext cx="2423160" cy="25603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7-day pain trend visualization (color-coded severity)</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Exercise adherence and streak counters</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Pain quality, region, and onset data per session</a:t>
            </a:r>
            <a:endParaRPr lang="en-US" sz="1400" dirty="0"/>
          </a:p>
          <a:p>
            <a:pPr marL="342900" indent="-342900">
              <a:spcAft>
                <a:spcPts val="400"/>
              </a:spcAft>
              <a:buSzPct val="100000"/>
              <a:buChar char="•"/>
            </a:pPr>
            <a:r>
              <a:rPr lang="en-US" sz="1400" dirty="0">
                <a:solidFill>
                  <a:srgbClr val="4A6572"/>
                </a:solidFill>
                <a:latin typeface="Calibri" pitchFamily="34" charset="0"/>
                <a:ea typeface="Calibri" pitchFamily="34" charset="-122"/>
                <a:cs typeface="Calibri" pitchFamily="34" charset="-120"/>
              </a:rPr>
              <a:t>Designed for eventual BPI + PCS-4 outcome integration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83C2B9-845C-9B94-260F-3D2AAFD0B626}"/>
              </a:ext>
            </a:extLst>
          </p:cNvPr>
          <p:cNvPicPr>
            <a:picLocks noChangeAspect="1"/>
          </p:cNvPicPr>
          <p:nvPr/>
        </p:nvPicPr>
        <p:blipFill>
          <a:blip r:embed="rId3"/>
          <a:stretch>
            <a:fillRect/>
          </a:stretch>
        </p:blipFill>
        <p:spPr>
          <a:xfrm>
            <a:off x="278741" y="162354"/>
            <a:ext cx="8554708" cy="4818791"/>
          </a:xfrm>
          <a:prstGeom prst="rect">
            <a:avLst/>
          </a:prstGeom>
        </p:spPr>
      </p:pic>
    </p:spTree>
    <p:extLst>
      <p:ext uri="{BB962C8B-B14F-4D97-AF65-F5344CB8AC3E}">
        <p14:creationId xmlns:p14="http://schemas.microsoft.com/office/powerpoint/2010/main" val="1719641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B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How It Works: A Three-Layer System</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sz="2000"/>
          </a:p>
        </p:txBody>
      </p:sp>
      <p:sp>
        <p:nvSpPr>
          <p:cNvPr id="4" name="Shape 2"/>
          <p:cNvSpPr/>
          <p:nvPr/>
        </p:nvSpPr>
        <p:spPr>
          <a:xfrm>
            <a:off x="3090672" y="2377440"/>
            <a:ext cx="320040" cy="27432"/>
          </a:xfrm>
          <a:prstGeom prst="rect">
            <a:avLst/>
          </a:prstGeom>
          <a:solidFill>
            <a:srgbClr val="7A9BAA"/>
          </a:solidFill>
          <a:ln w="12700">
            <a:solidFill>
              <a:srgbClr val="7A9BAA"/>
            </a:solidFill>
            <a:prstDash val="solid"/>
          </a:ln>
        </p:spPr>
        <p:txBody>
          <a:bodyPr/>
          <a:lstStyle/>
          <a:p>
            <a:endParaRPr lang="en-US" sz="2000"/>
          </a:p>
        </p:txBody>
      </p:sp>
      <p:sp>
        <p:nvSpPr>
          <p:cNvPr id="5" name="Text 3"/>
          <p:cNvSpPr/>
          <p:nvPr/>
        </p:nvSpPr>
        <p:spPr>
          <a:xfrm>
            <a:off x="3227832" y="2212848"/>
            <a:ext cx="228600" cy="320040"/>
          </a:xfrm>
          <a:prstGeom prst="rect">
            <a:avLst/>
          </a:prstGeom>
          <a:noFill/>
          <a:ln/>
        </p:spPr>
        <p:txBody>
          <a:bodyPr wrap="square" lIns="0" tIns="0" rIns="0" bIns="0" rtlCol="0" anchor="ctr"/>
          <a:lstStyle/>
          <a:p>
            <a:pPr marL="0" indent="0" algn="ctr">
              <a:buNone/>
            </a:pPr>
            <a:r>
              <a:rPr lang="en-US" sz="2400" dirty="0">
                <a:solidFill>
                  <a:srgbClr val="7A9BAA"/>
                </a:solidFill>
                <a:latin typeface="Trebuchet MS" pitchFamily="34" charset="0"/>
                <a:ea typeface="Trebuchet MS" pitchFamily="34" charset="-122"/>
                <a:cs typeface="Trebuchet MS" pitchFamily="34" charset="-120"/>
              </a:rPr>
              <a:t>›</a:t>
            </a:r>
            <a:endParaRPr lang="en-US" sz="2400" dirty="0"/>
          </a:p>
        </p:txBody>
      </p:sp>
      <p:sp>
        <p:nvSpPr>
          <p:cNvPr id="6" name="Shape 4"/>
          <p:cNvSpPr/>
          <p:nvPr/>
        </p:nvSpPr>
        <p:spPr>
          <a:xfrm>
            <a:off x="6035040" y="2377440"/>
            <a:ext cx="320040" cy="27432"/>
          </a:xfrm>
          <a:prstGeom prst="rect">
            <a:avLst/>
          </a:prstGeom>
          <a:solidFill>
            <a:srgbClr val="7A9BAA"/>
          </a:solidFill>
          <a:ln w="12700">
            <a:solidFill>
              <a:srgbClr val="7A9BAA"/>
            </a:solidFill>
            <a:prstDash val="solid"/>
          </a:ln>
        </p:spPr>
        <p:txBody>
          <a:bodyPr/>
          <a:lstStyle/>
          <a:p>
            <a:endParaRPr lang="en-US" sz="2000"/>
          </a:p>
        </p:txBody>
      </p:sp>
      <p:sp>
        <p:nvSpPr>
          <p:cNvPr id="7" name="Text 5"/>
          <p:cNvSpPr/>
          <p:nvPr/>
        </p:nvSpPr>
        <p:spPr>
          <a:xfrm>
            <a:off x="6172200" y="2212848"/>
            <a:ext cx="228600" cy="320040"/>
          </a:xfrm>
          <a:prstGeom prst="rect">
            <a:avLst/>
          </a:prstGeom>
          <a:noFill/>
          <a:ln/>
        </p:spPr>
        <p:txBody>
          <a:bodyPr wrap="square" lIns="0" tIns="0" rIns="0" bIns="0" rtlCol="0" anchor="ctr"/>
          <a:lstStyle/>
          <a:p>
            <a:pPr marL="0" indent="0" algn="ctr">
              <a:buNone/>
            </a:pPr>
            <a:r>
              <a:rPr lang="en-US" sz="2400" dirty="0">
                <a:solidFill>
                  <a:srgbClr val="7A9BAA"/>
                </a:solidFill>
                <a:latin typeface="Trebuchet MS" pitchFamily="34" charset="0"/>
                <a:ea typeface="Trebuchet MS" pitchFamily="34" charset="-122"/>
                <a:cs typeface="Trebuchet MS" pitchFamily="34" charset="-120"/>
              </a:rPr>
              <a:t>›</a:t>
            </a:r>
            <a:endParaRPr lang="en-US" sz="2400" dirty="0"/>
          </a:p>
        </p:txBody>
      </p:sp>
      <p:sp>
        <p:nvSpPr>
          <p:cNvPr id="8" name="Shape 6"/>
          <p:cNvSpPr/>
          <p:nvPr/>
        </p:nvSpPr>
        <p:spPr>
          <a:xfrm>
            <a:off x="347472" y="841248"/>
            <a:ext cx="2743200" cy="3913632"/>
          </a:xfrm>
          <a:prstGeom prst="rect">
            <a:avLst/>
          </a:prstGeom>
          <a:solidFill>
            <a:srgbClr val="FFFFFF"/>
          </a:solidFill>
          <a:ln w="12700">
            <a:solidFill>
              <a:srgbClr val="E0EAEC"/>
            </a:solidFill>
            <a:prstDash val="solid"/>
          </a:ln>
          <a:effectLst>
            <a:outerShdw blurRad="101600" dist="38100" dir="8100000" algn="bl" rotWithShape="0">
              <a:srgbClr val="000000">
                <a:alpha val="10000"/>
              </a:srgbClr>
            </a:outerShdw>
          </a:effectLst>
        </p:spPr>
        <p:txBody>
          <a:bodyPr/>
          <a:lstStyle/>
          <a:p>
            <a:endParaRPr lang="en-US" sz="2000"/>
          </a:p>
        </p:txBody>
      </p:sp>
      <p:sp>
        <p:nvSpPr>
          <p:cNvPr id="9" name="Shape 7"/>
          <p:cNvSpPr/>
          <p:nvPr/>
        </p:nvSpPr>
        <p:spPr>
          <a:xfrm>
            <a:off x="347472" y="841248"/>
            <a:ext cx="2743200" cy="475488"/>
          </a:xfrm>
          <a:prstGeom prst="rect">
            <a:avLst/>
          </a:prstGeom>
          <a:solidFill>
            <a:srgbClr val="0D7A8A"/>
          </a:solidFill>
          <a:ln w="12700">
            <a:solidFill>
              <a:srgbClr val="0D7A8A"/>
            </a:solidFill>
            <a:prstDash val="solid"/>
          </a:ln>
        </p:spPr>
        <p:txBody>
          <a:bodyPr/>
          <a:lstStyle/>
          <a:p>
            <a:endParaRPr lang="en-US" sz="2000"/>
          </a:p>
        </p:txBody>
      </p:sp>
      <p:sp>
        <p:nvSpPr>
          <p:cNvPr id="10" name="Text 8"/>
          <p:cNvSpPr/>
          <p:nvPr/>
        </p:nvSpPr>
        <p:spPr>
          <a:xfrm>
            <a:off x="457200" y="859536"/>
            <a:ext cx="457200" cy="420624"/>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01</a:t>
            </a:r>
            <a:endParaRPr lang="en-US" sz="2400" dirty="0"/>
          </a:p>
        </p:txBody>
      </p:sp>
      <p:sp>
        <p:nvSpPr>
          <p:cNvPr id="11" name="Text 9"/>
          <p:cNvSpPr/>
          <p:nvPr/>
        </p:nvSpPr>
        <p:spPr>
          <a:xfrm>
            <a:off x="896112" y="896112"/>
            <a:ext cx="2057400" cy="365760"/>
          </a:xfrm>
          <a:prstGeom prst="rect">
            <a:avLst/>
          </a:prstGeom>
          <a:noFill/>
          <a:ln/>
        </p:spPr>
        <p:txBody>
          <a:bodyPr wrap="square" lIns="0" tIns="0" rIns="0" bIns="0" rtlCol="0" anchor="ctr"/>
          <a:lstStyle/>
          <a:p>
            <a:pPr marL="0" indent="0">
              <a:buNone/>
            </a:pPr>
            <a:r>
              <a:rPr lang="en-US" sz="1000" b="1" kern="0" spc="150" dirty="0">
                <a:solidFill>
                  <a:srgbClr val="E0F5F3"/>
                </a:solidFill>
                <a:latin typeface="Calibri" pitchFamily="34" charset="0"/>
                <a:ea typeface="Calibri" pitchFamily="34" charset="-122"/>
                <a:cs typeface="Calibri" pitchFamily="34" charset="-120"/>
              </a:rPr>
              <a:t>PATIENT EXPERIENCE</a:t>
            </a:r>
            <a:endParaRPr lang="en-US" sz="1000" dirty="0"/>
          </a:p>
        </p:txBody>
      </p:sp>
      <p:sp>
        <p:nvSpPr>
          <p:cNvPr id="12" name="Shape 10"/>
          <p:cNvSpPr/>
          <p:nvPr/>
        </p:nvSpPr>
        <p:spPr>
          <a:xfrm>
            <a:off x="1353312" y="1417320"/>
            <a:ext cx="731520" cy="731520"/>
          </a:xfrm>
          <a:prstGeom prst="ellipse">
            <a:avLst/>
          </a:prstGeom>
          <a:solidFill>
            <a:srgbClr val="E0F5F3"/>
          </a:solidFill>
          <a:ln w="12700">
            <a:solidFill>
              <a:srgbClr val="E0F5F3"/>
            </a:solidFill>
            <a:prstDash val="solid"/>
          </a:ln>
        </p:spPr>
        <p:txBody>
          <a:bodyPr/>
          <a:lstStyle/>
          <a:p>
            <a:endParaRPr lang="en-US" sz="2000"/>
          </a:p>
        </p:txBody>
      </p:sp>
      <p:pic>
        <p:nvPicPr>
          <p:cNvPr id="13" name="Image 0" descr="preencoded.png"/>
          <p:cNvPicPr>
            <a:picLocks noChangeAspect="1"/>
          </p:cNvPicPr>
          <p:nvPr/>
        </p:nvPicPr>
        <p:blipFill>
          <a:blip r:embed="rId3"/>
          <a:stretch>
            <a:fillRect/>
          </a:stretch>
        </p:blipFill>
        <p:spPr>
          <a:xfrm>
            <a:off x="1444752" y="1508760"/>
            <a:ext cx="548640" cy="548640"/>
          </a:xfrm>
          <a:prstGeom prst="rect">
            <a:avLst/>
          </a:prstGeom>
        </p:spPr>
      </p:pic>
      <p:sp>
        <p:nvSpPr>
          <p:cNvPr id="14" name="Text 11"/>
          <p:cNvSpPr/>
          <p:nvPr/>
        </p:nvSpPr>
        <p:spPr>
          <a:xfrm>
            <a:off x="512064" y="2286000"/>
            <a:ext cx="2468880" cy="438912"/>
          </a:xfrm>
          <a:prstGeom prst="rect">
            <a:avLst/>
          </a:prstGeom>
          <a:noFill/>
          <a:ln/>
        </p:spPr>
        <p:txBody>
          <a:bodyPr wrap="square" lIns="0" tIns="0" rIns="0" bIns="0" rtlCol="0" anchor="ctr"/>
          <a:lstStyle/>
          <a:p>
            <a:pPr marL="0" indent="0" algn="ctr">
              <a:buNone/>
            </a:pPr>
            <a:r>
              <a:rPr lang="en-US" b="1" dirty="0">
                <a:solidFill>
                  <a:srgbClr val="1A2E35"/>
                </a:solidFill>
                <a:latin typeface="Trebuchet MS" pitchFamily="34" charset="0"/>
                <a:ea typeface="Trebuchet MS" pitchFamily="34" charset="-122"/>
                <a:cs typeface="Trebuchet MS" pitchFamily="34" charset="-120"/>
              </a:rPr>
              <a:t>Unity Game (Soma+)</a:t>
            </a:r>
            <a:endParaRPr lang="en-US" dirty="0"/>
          </a:p>
        </p:txBody>
      </p:sp>
      <p:sp>
        <p:nvSpPr>
          <p:cNvPr id="15" name="Text 12"/>
          <p:cNvSpPr/>
          <p:nvPr/>
        </p:nvSpPr>
        <p:spPr>
          <a:xfrm>
            <a:off x="512064" y="2788920"/>
            <a:ext cx="2468880" cy="1783080"/>
          </a:xfrm>
          <a:prstGeom prst="rect">
            <a:avLst/>
          </a:prstGeom>
          <a:noFill/>
          <a:ln/>
        </p:spPr>
        <p:txBody>
          <a:bodyPr wrap="square" lIns="0" tIns="0" rIns="0" bIns="0" rtlCol="0" anchor="ctr"/>
          <a:lstStyle/>
          <a:p>
            <a:pPr marL="0" indent="0" algn="l">
              <a:buNone/>
            </a:pPr>
            <a:r>
              <a:rPr lang="en-US" sz="1600" dirty="0">
                <a:solidFill>
                  <a:srgbClr val="4A6572"/>
                </a:solidFill>
                <a:latin typeface="Calibri" pitchFamily="34" charset="0"/>
                <a:ea typeface="Calibri" pitchFamily="34" charset="-122"/>
                <a:cs typeface="Calibri" pitchFamily="34" charset="-120"/>
              </a:rPr>
              <a:t>The patient opens the app and interacts with a body-map to locate, specifically, and describe their pain. The game tracks somatic signals in real time.</a:t>
            </a:r>
            <a:endParaRPr lang="en-US" sz="1600" dirty="0"/>
          </a:p>
        </p:txBody>
      </p:sp>
      <p:sp>
        <p:nvSpPr>
          <p:cNvPr id="16" name="Shape 13"/>
          <p:cNvSpPr/>
          <p:nvPr/>
        </p:nvSpPr>
        <p:spPr>
          <a:xfrm>
            <a:off x="3291840" y="841248"/>
            <a:ext cx="2743200" cy="3913632"/>
          </a:xfrm>
          <a:prstGeom prst="rect">
            <a:avLst/>
          </a:prstGeom>
          <a:solidFill>
            <a:srgbClr val="FFFFFF"/>
          </a:solidFill>
          <a:ln w="12700">
            <a:solidFill>
              <a:srgbClr val="E0EAEC"/>
            </a:solidFill>
            <a:prstDash val="solid"/>
          </a:ln>
          <a:effectLst>
            <a:outerShdw blurRad="101600" dist="38100" dir="8100000" algn="bl" rotWithShape="0">
              <a:srgbClr val="000000">
                <a:alpha val="10000"/>
              </a:srgbClr>
            </a:outerShdw>
          </a:effectLst>
        </p:spPr>
        <p:txBody>
          <a:bodyPr/>
          <a:lstStyle/>
          <a:p>
            <a:endParaRPr lang="en-US" sz="2000"/>
          </a:p>
        </p:txBody>
      </p:sp>
      <p:sp>
        <p:nvSpPr>
          <p:cNvPr id="17" name="Shape 14"/>
          <p:cNvSpPr/>
          <p:nvPr/>
        </p:nvSpPr>
        <p:spPr>
          <a:xfrm>
            <a:off x="3291840" y="841248"/>
            <a:ext cx="2743200" cy="475488"/>
          </a:xfrm>
          <a:prstGeom prst="rect">
            <a:avLst/>
          </a:prstGeom>
          <a:solidFill>
            <a:srgbClr val="0D7A8A"/>
          </a:solidFill>
          <a:ln w="12700">
            <a:solidFill>
              <a:srgbClr val="0D7A8A"/>
            </a:solidFill>
            <a:prstDash val="solid"/>
          </a:ln>
        </p:spPr>
        <p:txBody>
          <a:bodyPr/>
          <a:lstStyle/>
          <a:p>
            <a:endParaRPr lang="en-US" sz="2000"/>
          </a:p>
        </p:txBody>
      </p:sp>
      <p:sp>
        <p:nvSpPr>
          <p:cNvPr id="18" name="Text 15"/>
          <p:cNvSpPr/>
          <p:nvPr/>
        </p:nvSpPr>
        <p:spPr>
          <a:xfrm>
            <a:off x="3401568" y="859536"/>
            <a:ext cx="457200" cy="420624"/>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02</a:t>
            </a:r>
            <a:endParaRPr lang="en-US" sz="2400" dirty="0"/>
          </a:p>
        </p:txBody>
      </p:sp>
      <p:sp>
        <p:nvSpPr>
          <p:cNvPr id="19" name="Text 16"/>
          <p:cNvSpPr/>
          <p:nvPr/>
        </p:nvSpPr>
        <p:spPr>
          <a:xfrm>
            <a:off x="3840480" y="896112"/>
            <a:ext cx="2057400" cy="365760"/>
          </a:xfrm>
          <a:prstGeom prst="rect">
            <a:avLst/>
          </a:prstGeom>
          <a:noFill/>
          <a:ln/>
        </p:spPr>
        <p:txBody>
          <a:bodyPr wrap="square" lIns="0" tIns="0" rIns="0" bIns="0" rtlCol="0" anchor="ctr"/>
          <a:lstStyle/>
          <a:p>
            <a:pPr marL="0" indent="0">
              <a:buNone/>
            </a:pPr>
            <a:r>
              <a:rPr lang="en-US" sz="1000" b="1" kern="0" spc="150" dirty="0">
                <a:solidFill>
                  <a:srgbClr val="E0F5F3"/>
                </a:solidFill>
                <a:latin typeface="Calibri" pitchFamily="34" charset="0"/>
                <a:ea typeface="Calibri" pitchFamily="34" charset="-122"/>
                <a:cs typeface="Calibri" pitchFamily="34" charset="-120"/>
              </a:rPr>
              <a:t>AI-POWERED CONVERSATION</a:t>
            </a:r>
            <a:endParaRPr lang="en-US" sz="1000" dirty="0"/>
          </a:p>
        </p:txBody>
      </p:sp>
      <p:sp>
        <p:nvSpPr>
          <p:cNvPr id="20" name="Shape 17"/>
          <p:cNvSpPr/>
          <p:nvPr/>
        </p:nvSpPr>
        <p:spPr>
          <a:xfrm>
            <a:off x="4297680" y="1417320"/>
            <a:ext cx="731520" cy="731520"/>
          </a:xfrm>
          <a:prstGeom prst="ellipse">
            <a:avLst/>
          </a:prstGeom>
          <a:solidFill>
            <a:srgbClr val="E0F5F3"/>
          </a:solidFill>
          <a:ln w="12700">
            <a:solidFill>
              <a:srgbClr val="E0F5F3"/>
            </a:solidFill>
            <a:prstDash val="solid"/>
          </a:ln>
        </p:spPr>
        <p:txBody>
          <a:bodyPr/>
          <a:lstStyle/>
          <a:p>
            <a:endParaRPr lang="en-US" sz="2000"/>
          </a:p>
        </p:txBody>
      </p:sp>
      <p:pic>
        <p:nvPicPr>
          <p:cNvPr id="21" name="Image 1" descr="preencoded.png"/>
          <p:cNvPicPr>
            <a:picLocks noChangeAspect="1"/>
          </p:cNvPicPr>
          <p:nvPr/>
        </p:nvPicPr>
        <p:blipFill>
          <a:blip r:embed="rId4"/>
          <a:stretch>
            <a:fillRect/>
          </a:stretch>
        </p:blipFill>
        <p:spPr>
          <a:xfrm>
            <a:off x="4389120" y="1508760"/>
            <a:ext cx="548640" cy="548640"/>
          </a:xfrm>
          <a:prstGeom prst="rect">
            <a:avLst/>
          </a:prstGeom>
        </p:spPr>
      </p:pic>
      <p:sp>
        <p:nvSpPr>
          <p:cNvPr id="22" name="Text 18"/>
          <p:cNvSpPr/>
          <p:nvPr/>
        </p:nvSpPr>
        <p:spPr>
          <a:xfrm>
            <a:off x="3456432" y="2286000"/>
            <a:ext cx="2468880" cy="438912"/>
          </a:xfrm>
          <a:prstGeom prst="rect">
            <a:avLst/>
          </a:prstGeom>
          <a:noFill/>
          <a:ln/>
        </p:spPr>
        <p:txBody>
          <a:bodyPr wrap="square" lIns="0" tIns="0" rIns="0" bIns="0" rtlCol="0" anchor="ctr"/>
          <a:lstStyle/>
          <a:p>
            <a:pPr marL="0" indent="0" algn="ctr">
              <a:buNone/>
            </a:pPr>
            <a:r>
              <a:rPr lang="en-US" b="1" dirty="0">
                <a:solidFill>
                  <a:srgbClr val="1A2E35"/>
                </a:solidFill>
                <a:latin typeface="Trebuchet MS" pitchFamily="34" charset="0"/>
                <a:ea typeface="Trebuchet MS" pitchFamily="34" charset="-122"/>
                <a:cs typeface="Trebuchet MS" pitchFamily="34" charset="-120"/>
              </a:rPr>
              <a:t>Voice Coach</a:t>
            </a:r>
            <a:endParaRPr lang="en-US" dirty="0"/>
          </a:p>
        </p:txBody>
      </p:sp>
      <p:sp>
        <p:nvSpPr>
          <p:cNvPr id="23" name="Text 19"/>
          <p:cNvSpPr/>
          <p:nvPr/>
        </p:nvSpPr>
        <p:spPr>
          <a:xfrm>
            <a:off x="3456432" y="2788920"/>
            <a:ext cx="2468880" cy="1783080"/>
          </a:xfrm>
          <a:prstGeom prst="rect">
            <a:avLst/>
          </a:prstGeom>
          <a:noFill/>
          <a:ln/>
        </p:spPr>
        <p:txBody>
          <a:bodyPr wrap="square" lIns="0" tIns="0" rIns="0" bIns="0" rtlCol="0" anchor="ctr"/>
          <a:lstStyle/>
          <a:p>
            <a:pPr marL="0" indent="0" algn="l">
              <a:buNone/>
            </a:pPr>
            <a:r>
              <a:rPr lang="en-US" sz="1600" dirty="0">
                <a:solidFill>
                  <a:srgbClr val="4A6572"/>
                </a:solidFill>
                <a:latin typeface="Calibri" pitchFamily="34" charset="0"/>
                <a:ea typeface="Calibri" pitchFamily="34" charset="-122"/>
                <a:cs typeface="Calibri" pitchFamily="34" charset="-120"/>
              </a:rPr>
              <a:t>A floating mic button launches an ElevenLabs voice session. The AI coach receives pain context from Unity and guides the patient through a PRT exercise.</a:t>
            </a:r>
            <a:endParaRPr lang="en-US" sz="1600" dirty="0"/>
          </a:p>
        </p:txBody>
      </p:sp>
      <p:sp>
        <p:nvSpPr>
          <p:cNvPr id="24" name="Shape 20"/>
          <p:cNvSpPr/>
          <p:nvPr/>
        </p:nvSpPr>
        <p:spPr>
          <a:xfrm>
            <a:off x="6236208" y="841248"/>
            <a:ext cx="2743200" cy="3913632"/>
          </a:xfrm>
          <a:prstGeom prst="rect">
            <a:avLst/>
          </a:prstGeom>
          <a:solidFill>
            <a:srgbClr val="FFFFFF"/>
          </a:solidFill>
          <a:ln w="12700">
            <a:solidFill>
              <a:srgbClr val="E0EAEC"/>
            </a:solidFill>
            <a:prstDash val="solid"/>
          </a:ln>
          <a:effectLst>
            <a:outerShdw blurRad="101600" dist="38100" dir="8100000" algn="bl" rotWithShape="0">
              <a:srgbClr val="000000">
                <a:alpha val="10000"/>
              </a:srgbClr>
            </a:outerShdw>
          </a:effectLst>
        </p:spPr>
        <p:txBody>
          <a:bodyPr/>
          <a:lstStyle/>
          <a:p>
            <a:endParaRPr lang="en-US" sz="2000"/>
          </a:p>
        </p:txBody>
      </p:sp>
      <p:sp>
        <p:nvSpPr>
          <p:cNvPr id="25" name="Shape 21"/>
          <p:cNvSpPr/>
          <p:nvPr/>
        </p:nvSpPr>
        <p:spPr>
          <a:xfrm>
            <a:off x="6236208" y="841248"/>
            <a:ext cx="2743200" cy="475488"/>
          </a:xfrm>
          <a:prstGeom prst="rect">
            <a:avLst/>
          </a:prstGeom>
          <a:solidFill>
            <a:srgbClr val="0D7A8A"/>
          </a:solidFill>
          <a:ln w="12700">
            <a:solidFill>
              <a:srgbClr val="0D7A8A"/>
            </a:solidFill>
            <a:prstDash val="solid"/>
          </a:ln>
        </p:spPr>
        <p:txBody>
          <a:bodyPr/>
          <a:lstStyle/>
          <a:p>
            <a:endParaRPr lang="en-US" sz="2000"/>
          </a:p>
        </p:txBody>
      </p:sp>
      <p:sp>
        <p:nvSpPr>
          <p:cNvPr id="26" name="Text 22"/>
          <p:cNvSpPr/>
          <p:nvPr/>
        </p:nvSpPr>
        <p:spPr>
          <a:xfrm>
            <a:off x="6345936" y="859536"/>
            <a:ext cx="457200" cy="420624"/>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03</a:t>
            </a:r>
            <a:endParaRPr lang="en-US" sz="2400" dirty="0"/>
          </a:p>
        </p:txBody>
      </p:sp>
      <p:sp>
        <p:nvSpPr>
          <p:cNvPr id="27" name="Text 23"/>
          <p:cNvSpPr/>
          <p:nvPr/>
        </p:nvSpPr>
        <p:spPr>
          <a:xfrm>
            <a:off x="6784848" y="896112"/>
            <a:ext cx="2057400" cy="365760"/>
          </a:xfrm>
          <a:prstGeom prst="rect">
            <a:avLst/>
          </a:prstGeom>
          <a:noFill/>
          <a:ln/>
        </p:spPr>
        <p:txBody>
          <a:bodyPr wrap="square" lIns="0" tIns="0" rIns="0" bIns="0" rtlCol="0" anchor="ctr"/>
          <a:lstStyle/>
          <a:p>
            <a:pPr marL="0" indent="0">
              <a:buNone/>
            </a:pPr>
            <a:r>
              <a:rPr lang="en-US" sz="1000" b="1" kern="0" spc="150" dirty="0">
                <a:solidFill>
                  <a:srgbClr val="E0F5F3"/>
                </a:solidFill>
                <a:latin typeface="Calibri" pitchFamily="34" charset="0"/>
                <a:ea typeface="Calibri" pitchFamily="34" charset="-122"/>
                <a:cs typeface="Calibri" pitchFamily="34" charset="-120"/>
              </a:rPr>
              <a:t>LONGITUDINAL INSIGHT</a:t>
            </a:r>
            <a:endParaRPr lang="en-US" sz="1000" dirty="0"/>
          </a:p>
        </p:txBody>
      </p:sp>
      <p:sp>
        <p:nvSpPr>
          <p:cNvPr id="28" name="Shape 24"/>
          <p:cNvSpPr/>
          <p:nvPr/>
        </p:nvSpPr>
        <p:spPr>
          <a:xfrm>
            <a:off x="7242048" y="1417320"/>
            <a:ext cx="731520" cy="731520"/>
          </a:xfrm>
          <a:prstGeom prst="ellipse">
            <a:avLst/>
          </a:prstGeom>
          <a:solidFill>
            <a:srgbClr val="E0F5F3"/>
          </a:solidFill>
          <a:ln w="12700">
            <a:solidFill>
              <a:srgbClr val="E0F5F3"/>
            </a:solidFill>
            <a:prstDash val="solid"/>
          </a:ln>
        </p:spPr>
        <p:txBody>
          <a:bodyPr/>
          <a:lstStyle/>
          <a:p>
            <a:endParaRPr lang="en-US" sz="2000"/>
          </a:p>
        </p:txBody>
      </p:sp>
      <p:pic>
        <p:nvPicPr>
          <p:cNvPr id="29" name="Image 2" descr="preencoded.png"/>
          <p:cNvPicPr>
            <a:picLocks noChangeAspect="1"/>
          </p:cNvPicPr>
          <p:nvPr/>
        </p:nvPicPr>
        <p:blipFill>
          <a:blip r:embed="rId5"/>
          <a:stretch>
            <a:fillRect/>
          </a:stretch>
        </p:blipFill>
        <p:spPr>
          <a:xfrm>
            <a:off x="7333488" y="1508760"/>
            <a:ext cx="548640" cy="548640"/>
          </a:xfrm>
          <a:prstGeom prst="rect">
            <a:avLst/>
          </a:prstGeom>
        </p:spPr>
      </p:pic>
      <p:sp>
        <p:nvSpPr>
          <p:cNvPr id="30" name="Text 25"/>
          <p:cNvSpPr/>
          <p:nvPr/>
        </p:nvSpPr>
        <p:spPr>
          <a:xfrm>
            <a:off x="6400800" y="2286000"/>
            <a:ext cx="2468880" cy="438912"/>
          </a:xfrm>
          <a:prstGeom prst="rect">
            <a:avLst/>
          </a:prstGeom>
          <a:noFill/>
          <a:ln/>
        </p:spPr>
        <p:txBody>
          <a:bodyPr wrap="square" lIns="0" tIns="0" rIns="0" bIns="0" rtlCol="0" anchor="ctr"/>
          <a:lstStyle/>
          <a:p>
            <a:pPr marL="0" indent="0" algn="ctr">
              <a:buNone/>
            </a:pPr>
            <a:r>
              <a:rPr lang="en-US" b="1" dirty="0">
                <a:solidFill>
                  <a:srgbClr val="1A2E35"/>
                </a:solidFill>
                <a:latin typeface="Trebuchet MS" pitchFamily="34" charset="0"/>
                <a:ea typeface="Trebuchet MS" pitchFamily="34" charset="-122"/>
                <a:cs typeface="Trebuchet MS" pitchFamily="34" charset="-120"/>
              </a:rPr>
              <a:t>Progress Dashboard</a:t>
            </a:r>
            <a:endParaRPr lang="en-US" dirty="0"/>
          </a:p>
        </p:txBody>
      </p:sp>
      <p:sp>
        <p:nvSpPr>
          <p:cNvPr id="31" name="Text 26"/>
          <p:cNvSpPr/>
          <p:nvPr/>
        </p:nvSpPr>
        <p:spPr>
          <a:xfrm>
            <a:off x="6400800" y="2788920"/>
            <a:ext cx="2468880" cy="1783080"/>
          </a:xfrm>
          <a:prstGeom prst="rect">
            <a:avLst/>
          </a:prstGeom>
          <a:noFill/>
          <a:ln/>
        </p:spPr>
        <p:txBody>
          <a:bodyPr wrap="square" lIns="0" tIns="0" rIns="0" bIns="0" rtlCol="0" anchor="ctr"/>
          <a:lstStyle/>
          <a:p>
            <a:pPr marL="0" indent="0" algn="l">
              <a:buNone/>
            </a:pPr>
            <a:r>
              <a:rPr lang="en-US" sz="1600" dirty="0">
                <a:solidFill>
                  <a:srgbClr val="4A6572"/>
                </a:solidFill>
                <a:latin typeface="Calibri" pitchFamily="34" charset="0"/>
                <a:ea typeface="Calibri" pitchFamily="34" charset="-122"/>
                <a:cs typeface="Calibri" pitchFamily="34" charset="-120"/>
              </a:rPr>
              <a:t>Every session logs a pain report. The dashboard shows a 7-day trend chart, exercise adherence %, streak count, and average severity — visible to patient and clinician.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Built &amp; Ready to Demo</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a:p>
        </p:txBody>
      </p:sp>
      <p:sp>
        <p:nvSpPr>
          <p:cNvPr id="4" name="Shape 2"/>
          <p:cNvSpPr/>
          <p:nvPr/>
        </p:nvSpPr>
        <p:spPr>
          <a:xfrm>
            <a:off x="347472" y="841248"/>
            <a:ext cx="4206240" cy="192024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47472" y="841248"/>
            <a:ext cx="64008" cy="1920240"/>
          </a:xfrm>
          <a:prstGeom prst="rect">
            <a:avLst/>
          </a:prstGeom>
          <a:solidFill>
            <a:srgbClr val="0D7A8A"/>
          </a:solidFill>
          <a:ln w="12700">
            <a:solidFill>
              <a:srgbClr val="0D7A8A"/>
            </a:solidFill>
            <a:prstDash val="solid"/>
          </a:ln>
        </p:spPr>
        <p:txBody>
          <a:bodyPr/>
          <a:lstStyle/>
          <a:p>
            <a:endParaRPr lang="en-US"/>
          </a:p>
        </p:txBody>
      </p:sp>
      <p:sp>
        <p:nvSpPr>
          <p:cNvPr id="6" name="Shape 4"/>
          <p:cNvSpPr/>
          <p:nvPr/>
        </p:nvSpPr>
        <p:spPr>
          <a:xfrm>
            <a:off x="512064" y="950976"/>
            <a:ext cx="1645920" cy="256032"/>
          </a:xfrm>
          <a:prstGeom prst="roundRect">
            <a:avLst>
              <a:gd name="adj" fmla="val 17857"/>
            </a:avLst>
          </a:prstGeom>
          <a:solidFill>
            <a:srgbClr val="00B4A0">
              <a:alpha val="75000"/>
            </a:srgbClr>
          </a:solidFill>
          <a:ln w="12700">
            <a:solidFill>
              <a:srgbClr val="00B4A0"/>
            </a:solidFill>
            <a:prstDash val="solid"/>
          </a:ln>
        </p:spPr>
        <p:txBody>
          <a:bodyPr/>
          <a:lstStyle/>
          <a:p>
            <a:endParaRPr lang="en-US"/>
          </a:p>
        </p:txBody>
      </p:sp>
      <p:sp>
        <p:nvSpPr>
          <p:cNvPr id="7" name="Text 5"/>
          <p:cNvSpPr/>
          <p:nvPr/>
        </p:nvSpPr>
        <p:spPr>
          <a:xfrm>
            <a:off x="512064" y="941832"/>
            <a:ext cx="1645920" cy="256032"/>
          </a:xfrm>
          <a:prstGeom prst="rect">
            <a:avLst/>
          </a:prstGeom>
          <a:noFill/>
          <a:ln/>
        </p:spPr>
        <p:txBody>
          <a:bodyPr wrap="square" lIns="0" tIns="0" rIns="0" bIns="0" rtlCol="0" anchor="ctr"/>
          <a:lstStyle/>
          <a:p>
            <a:pPr marL="0" indent="0" algn="ctr">
              <a:buNone/>
            </a:pPr>
            <a:r>
              <a:rPr lang="en-US" sz="750" b="1" dirty="0">
                <a:solidFill>
                  <a:srgbClr val="0D7A8A"/>
                </a:solidFill>
                <a:latin typeface="Calibri" pitchFamily="34" charset="0"/>
                <a:ea typeface="Calibri" pitchFamily="34" charset="-122"/>
                <a:cs typeface="Calibri" pitchFamily="34" charset="-120"/>
              </a:rPr>
              <a:t>TASK #3 — COMPLETE</a:t>
            </a:r>
            <a:endParaRPr lang="en-US" sz="750" dirty="0"/>
          </a:p>
        </p:txBody>
      </p:sp>
      <p:sp>
        <p:nvSpPr>
          <p:cNvPr id="8" name="Shape 6"/>
          <p:cNvSpPr/>
          <p:nvPr/>
        </p:nvSpPr>
        <p:spPr>
          <a:xfrm>
            <a:off x="512064" y="1298448"/>
            <a:ext cx="384048" cy="384048"/>
          </a:xfrm>
          <a:prstGeom prst="ellipse">
            <a:avLst/>
          </a:prstGeom>
          <a:solidFill>
            <a:srgbClr val="E0F5F3"/>
          </a:solidFill>
          <a:ln w="12700">
            <a:solidFill>
              <a:srgbClr val="E0F5F3"/>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66928" y="1353312"/>
            <a:ext cx="274320" cy="274320"/>
          </a:xfrm>
          <a:prstGeom prst="rect">
            <a:avLst/>
          </a:prstGeom>
        </p:spPr>
      </p:pic>
      <p:sp>
        <p:nvSpPr>
          <p:cNvPr id="10" name="Text 7"/>
          <p:cNvSpPr/>
          <p:nvPr/>
        </p:nvSpPr>
        <p:spPr>
          <a:xfrm>
            <a:off x="1005840" y="1280160"/>
            <a:ext cx="3383280" cy="411480"/>
          </a:xfrm>
          <a:prstGeom prst="rect">
            <a:avLst/>
          </a:prstGeom>
          <a:noFill/>
          <a:ln/>
        </p:spPr>
        <p:txBody>
          <a:bodyPr wrap="square" lIns="0" tIns="0" rIns="0" bIns="0" rtlCol="0" anchor="ctr"/>
          <a:lstStyle/>
          <a:p>
            <a:pPr marL="0" indent="0">
              <a:buNone/>
            </a:pPr>
            <a:r>
              <a:rPr lang="en-US" sz="1300" b="1" dirty="0">
                <a:solidFill>
                  <a:srgbClr val="1A2E35"/>
                </a:solidFill>
                <a:latin typeface="Trebuchet MS" pitchFamily="34" charset="0"/>
                <a:ea typeface="Trebuchet MS" pitchFamily="34" charset="-122"/>
                <a:cs typeface="Trebuchet MS" pitchFamily="34" charset="-120"/>
              </a:rPr>
              <a:t>In-Browser Voice Coaching</a:t>
            </a:r>
            <a:endParaRPr lang="en-US" sz="1300" dirty="0"/>
          </a:p>
        </p:txBody>
      </p:sp>
      <p:sp>
        <p:nvSpPr>
          <p:cNvPr id="11" name="Text 8"/>
          <p:cNvSpPr/>
          <p:nvPr/>
        </p:nvSpPr>
        <p:spPr>
          <a:xfrm>
            <a:off x="512064" y="1737360"/>
            <a:ext cx="3931920" cy="914400"/>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Patient clicks the mic button → ElevenLabs starts a voice session in the browser. Pain context (region, quality, severity, onset) is automatically injected so the AI coach begins with clinical grounding. No phone calls. No app installs.</a:t>
            </a:r>
            <a:endParaRPr lang="en-US" sz="1400" dirty="0"/>
          </a:p>
        </p:txBody>
      </p:sp>
      <p:sp>
        <p:nvSpPr>
          <p:cNvPr id="12" name="Shape 9"/>
          <p:cNvSpPr/>
          <p:nvPr/>
        </p:nvSpPr>
        <p:spPr>
          <a:xfrm>
            <a:off x="4681728" y="841248"/>
            <a:ext cx="4114800" cy="192024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4681728" y="841248"/>
            <a:ext cx="64008" cy="1920240"/>
          </a:xfrm>
          <a:prstGeom prst="rect">
            <a:avLst/>
          </a:prstGeom>
          <a:solidFill>
            <a:srgbClr val="0D7A8A"/>
          </a:solidFill>
          <a:ln w="12700">
            <a:solidFill>
              <a:srgbClr val="0D7A8A"/>
            </a:solidFill>
            <a:prstDash val="solid"/>
          </a:ln>
        </p:spPr>
        <p:txBody>
          <a:bodyPr/>
          <a:lstStyle/>
          <a:p>
            <a:endParaRPr lang="en-US"/>
          </a:p>
        </p:txBody>
      </p:sp>
      <p:sp>
        <p:nvSpPr>
          <p:cNvPr id="14" name="Shape 11"/>
          <p:cNvSpPr/>
          <p:nvPr/>
        </p:nvSpPr>
        <p:spPr>
          <a:xfrm>
            <a:off x="4846320" y="950976"/>
            <a:ext cx="1645920" cy="256032"/>
          </a:xfrm>
          <a:prstGeom prst="roundRect">
            <a:avLst>
              <a:gd name="adj" fmla="val 17857"/>
            </a:avLst>
          </a:prstGeom>
          <a:solidFill>
            <a:srgbClr val="00B4A0">
              <a:alpha val="75000"/>
            </a:srgbClr>
          </a:solidFill>
          <a:ln w="12700">
            <a:solidFill>
              <a:srgbClr val="00B4A0"/>
            </a:solidFill>
            <a:prstDash val="solid"/>
          </a:ln>
        </p:spPr>
        <p:txBody>
          <a:bodyPr/>
          <a:lstStyle/>
          <a:p>
            <a:endParaRPr lang="en-US"/>
          </a:p>
        </p:txBody>
      </p:sp>
      <p:sp>
        <p:nvSpPr>
          <p:cNvPr id="15" name="Text 12"/>
          <p:cNvSpPr/>
          <p:nvPr/>
        </p:nvSpPr>
        <p:spPr>
          <a:xfrm>
            <a:off x="4846320" y="941832"/>
            <a:ext cx="1645920" cy="256032"/>
          </a:xfrm>
          <a:prstGeom prst="rect">
            <a:avLst/>
          </a:prstGeom>
          <a:noFill/>
          <a:ln/>
        </p:spPr>
        <p:txBody>
          <a:bodyPr wrap="square" lIns="0" tIns="0" rIns="0" bIns="0" rtlCol="0" anchor="ctr"/>
          <a:lstStyle/>
          <a:p>
            <a:pPr marL="0" indent="0" algn="ctr">
              <a:buNone/>
            </a:pPr>
            <a:r>
              <a:rPr lang="en-US" sz="750" b="1" dirty="0">
                <a:solidFill>
                  <a:srgbClr val="0D7A8A"/>
                </a:solidFill>
                <a:latin typeface="Calibri" pitchFamily="34" charset="0"/>
                <a:ea typeface="Calibri" pitchFamily="34" charset="-122"/>
                <a:cs typeface="Calibri" pitchFamily="34" charset="-120"/>
              </a:rPr>
              <a:t>TASK #4 — COMPLETE</a:t>
            </a:r>
            <a:endParaRPr lang="en-US" sz="750" dirty="0"/>
          </a:p>
        </p:txBody>
      </p:sp>
      <p:sp>
        <p:nvSpPr>
          <p:cNvPr id="16" name="Shape 13"/>
          <p:cNvSpPr/>
          <p:nvPr/>
        </p:nvSpPr>
        <p:spPr>
          <a:xfrm>
            <a:off x="4846320" y="1298448"/>
            <a:ext cx="384048" cy="384048"/>
          </a:xfrm>
          <a:prstGeom prst="ellipse">
            <a:avLst/>
          </a:prstGeom>
          <a:solidFill>
            <a:srgbClr val="E0F5F3"/>
          </a:solidFill>
          <a:ln w="12700">
            <a:solidFill>
              <a:srgbClr val="E0F5F3"/>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901184" y="1353312"/>
            <a:ext cx="274320" cy="274320"/>
          </a:xfrm>
          <a:prstGeom prst="rect">
            <a:avLst/>
          </a:prstGeom>
        </p:spPr>
      </p:pic>
      <p:sp>
        <p:nvSpPr>
          <p:cNvPr id="18" name="Text 14"/>
          <p:cNvSpPr/>
          <p:nvPr/>
        </p:nvSpPr>
        <p:spPr>
          <a:xfrm>
            <a:off x="5340096" y="1280160"/>
            <a:ext cx="3291840" cy="411480"/>
          </a:xfrm>
          <a:prstGeom prst="rect">
            <a:avLst/>
          </a:prstGeom>
          <a:noFill/>
          <a:ln/>
        </p:spPr>
        <p:txBody>
          <a:bodyPr wrap="square" lIns="0" tIns="0" rIns="0" bIns="0" rtlCol="0" anchor="ctr"/>
          <a:lstStyle/>
          <a:p>
            <a:pPr marL="0" indent="0">
              <a:buNone/>
            </a:pPr>
            <a:r>
              <a:rPr lang="en-US" sz="1300" b="1" dirty="0">
                <a:solidFill>
                  <a:srgbClr val="1A2E35"/>
                </a:solidFill>
                <a:latin typeface="Trebuchet MS" pitchFamily="34" charset="0"/>
                <a:ea typeface="Trebuchet MS" pitchFamily="34" charset="-122"/>
                <a:cs typeface="Trebuchet MS" pitchFamily="34" charset="-120"/>
              </a:rPr>
              <a:t>7-Day Progress Dashboard</a:t>
            </a:r>
            <a:endParaRPr lang="en-US" sz="1300" dirty="0"/>
          </a:p>
        </p:txBody>
      </p:sp>
      <p:sp>
        <p:nvSpPr>
          <p:cNvPr id="19" name="Text 15"/>
          <p:cNvSpPr/>
          <p:nvPr/>
        </p:nvSpPr>
        <p:spPr>
          <a:xfrm>
            <a:off x="4846320" y="1737360"/>
            <a:ext cx="3840480" cy="914400"/>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Color-coded pain trend chart (green → yellow → red by severity), exercise adherence percentage, streak counter, and rolling average. Updated automatically after each logged session.</a:t>
            </a:r>
            <a:endParaRPr lang="en-US" sz="1400" dirty="0"/>
          </a:p>
        </p:txBody>
      </p:sp>
      <p:sp>
        <p:nvSpPr>
          <p:cNvPr id="20" name="Shape 16"/>
          <p:cNvSpPr/>
          <p:nvPr/>
        </p:nvSpPr>
        <p:spPr>
          <a:xfrm>
            <a:off x="347472" y="2852928"/>
            <a:ext cx="8449056" cy="182880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a:p>
        </p:txBody>
      </p:sp>
      <p:sp>
        <p:nvSpPr>
          <p:cNvPr id="21" name="Shape 17"/>
          <p:cNvSpPr/>
          <p:nvPr/>
        </p:nvSpPr>
        <p:spPr>
          <a:xfrm>
            <a:off x="347472" y="2852928"/>
            <a:ext cx="64008" cy="1828800"/>
          </a:xfrm>
          <a:prstGeom prst="rect">
            <a:avLst/>
          </a:prstGeom>
          <a:solidFill>
            <a:srgbClr val="0D7A8A"/>
          </a:solidFill>
          <a:ln w="12700">
            <a:solidFill>
              <a:srgbClr val="0D7A8A"/>
            </a:solidFill>
            <a:prstDash val="solid"/>
          </a:ln>
        </p:spPr>
        <p:txBody>
          <a:bodyPr/>
          <a:lstStyle/>
          <a:p>
            <a:endParaRPr lang="en-US"/>
          </a:p>
        </p:txBody>
      </p:sp>
      <p:sp>
        <p:nvSpPr>
          <p:cNvPr id="22" name="Shape 18"/>
          <p:cNvSpPr/>
          <p:nvPr/>
        </p:nvSpPr>
        <p:spPr>
          <a:xfrm>
            <a:off x="512064" y="2962656"/>
            <a:ext cx="1645920" cy="256032"/>
          </a:xfrm>
          <a:prstGeom prst="roundRect">
            <a:avLst>
              <a:gd name="adj" fmla="val 17857"/>
            </a:avLst>
          </a:prstGeom>
          <a:solidFill>
            <a:srgbClr val="00B4A0">
              <a:alpha val="75000"/>
            </a:srgbClr>
          </a:solidFill>
          <a:ln w="12700">
            <a:solidFill>
              <a:srgbClr val="00B4A0"/>
            </a:solidFill>
            <a:prstDash val="solid"/>
          </a:ln>
        </p:spPr>
        <p:txBody>
          <a:bodyPr/>
          <a:lstStyle/>
          <a:p>
            <a:endParaRPr lang="en-US"/>
          </a:p>
        </p:txBody>
      </p:sp>
      <p:sp>
        <p:nvSpPr>
          <p:cNvPr id="23" name="Text 19"/>
          <p:cNvSpPr/>
          <p:nvPr/>
        </p:nvSpPr>
        <p:spPr>
          <a:xfrm>
            <a:off x="512064" y="2953512"/>
            <a:ext cx="1645920" cy="256032"/>
          </a:xfrm>
          <a:prstGeom prst="rect">
            <a:avLst/>
          </a:prstGeom>
          <a:noFill/>
          <a:ln/>
        </p:spPr>
        <p:txBody>
          <a:bodyPr wrap="square" lIns="0" tIns="0" rIns="0" bIns="0" rtlCol="0" anchor="ctr"/>
          <a:lstStyle/>
          <a:p>
            <a:pPr marL="0" indent="0" algn="ctr">
              <a:buNone/>
            </a:pPr>
            <a:r>
              <a:rPr lang="en-US" sz="750" b="1" dirty="0">
                <a:solidFill>
                  <a:srgbClr val="0D7A8A"/>
                </a:solidFill>
                <a:latin typeface="Calibri" pitchFamily="34" charset="0"/>
                <a:ea typeface="Calibri" pitchFamily="34" charset="-122"/>
                <a:cs typeface="Calibri" pitchFamily="34" charset="-120"/>
              </a:rPr>
              <a:t>INTEGRATION — COMPLETE</a:t>
            </a:r>
            <a:endParaRPr lang="en-US" sz="750" dirty="0"/>
          </a:p>
        </p:txBody>
      </p:sp>
      <p:sp>
        <p:nvSpPr>
          <p:cNvPr id="24" name="Shape 20"/>
          <p:cNvSpPr/>
          <p:nvPr/>
        </p:nvSpPr>
        <p:spPr>
          <a:xfrm>
            <a:off x="512064" y="3310128"/>
            <a:ext cx="384048" cy="384048"/>
          </a:xfrm>
          <a:prstGeom prst="ellipse">
            <a:avLst/>
          </a:prstGeom>
          <a:solidFill>
            <a:srgbClr val="E0F5F3"/>
          </a:solidFill>
          <a:ln w="12700">
            <a:solidFill>
              <a:srgbClr val="E0F5F3"/>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566928" y="3364992"/>
            <a:ext cx="274320" cy="274320"/>
          </a:xfrm>
          <a:prstGeom prst="rect">
            <a:avLst/>
          </a:prstGeom>
        </p:spPr>
      </p:pic>
      <p:sp>
        <p:nvSpPr>
          <p:cNvPr id="26" name="Text 21"/>
          <p:cNvSpPr/>
          <p:nvPr/>
        </p:nvSpPr>
        <p:spPr>
          <a:xfrm>
            <a:off x="1005840" y="3291840"/>
            <a:ext cx="7626096" cy="411480"/>
          </a:xfrm>
          <a:prstGeom prst="rect">
            <a:avLst/>
          </a:prstGeom>
          <a:noFill/>
          <a:ln/>
        </p:spPr>
        <p:txBody>
          <a:bodyPr wrap="square" lIns="0" tIns="0" rIns="0" bIns="0" rtlCol="0" anchor="ctr"/>
          <a:lstStyle/>
          <a:p>
            <a:pPr marL="0" indent="0">
              <a:buNone/>
            </a:pPr>
            <a:r>
              <a:rPr lang="en-US" sz="1300" b="1" dirty="0">
                <a:solidFill>
                  <a:srgbClr val="1A2E35"/>
                </a:solidFill>
                <a:latin typeface="Trebuchet MS" pitchFamily="34" charset="0"/>
                <a:ea typeface="Trebuchet MS" pitchFamily="34" charset="-122"/>
                <a:cs typeface="Trebuchet MS" pitchFamily="34" charset="-120"/>
              </a:rPr>
              <a:t>Unity ↔ Web Bridge</a:t>
            </a:r>
            <a:endParaRPr lang="en-US" sz="1300" dirty="0"/>
          </a:p>
        </p:txBody>
      </p:sp>
      <p:sp>
        <p:nvSpPr>
          <p:cNvPr id="27" name="Text 22"/>
          <p:cNvSpPr/>
          <p:nvPr/>
        </p:nvSpPr>
        <p:spPr>
          <a:xfrm>
            <a:off x="512064" y="3749040"/>
            <a:ext cx="8174736" cy="914400"/>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window.SomaAI.* API bridges the Unity game and the web layer. Unity triggers voice sessions, logs pain reports, and records exercise completions — all through a clean JavaScript contract. Testable from the browser console.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B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Clinical Intelligence Under the Hood</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a:p>
        </p:txBody>
      </p:sp>
      <p:sp>
        <p:nvSpPr>
          <p:cNvPr id="4" name="Text 2"/>
          <p:cNvSpPr/>
          <p:nvPr/>
        </p:nvSpPr>
        <p:spPr>
          <a:xfrm>
            <a:off x="457200" y="777240"/>
            <a:ext cx="8229600" cy="320040"/>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Three layers, each owning its domain — designed to scale into a clinical product.</a:t>
            </a:r>
            <a:endParaRPr lang="en-US" sz="1200" dirty="0"/>
          </a:p>
        </p:txBody>
      </p:sp>
      <p:sp>
        <p:nvSpPr>
          <p:cNvPr id="5" name="Shape 3"/>
          <p:cNvSpPr/>
          <p:nvPr/>
        </p:nvSpPr>
        <p:spPr>
          <a:xfrm>
            <a:off x="347472" y="1188720"/>
            <a:ext cx="8449056" cy="1115568"/>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47472" y="1188720"/>
            <a:ext cx="91440" cy="1115568"/>
          </a:xfrm>
          <a:prstGeom prst="rect">
            <a:avLst/>
          </a:prstGeom>
          <a:solidFill>
            <a:srgbClr val="1A3A4A"/>
          </a:solidFill>
          <a:ln w="12700">
            <a:solidFill>
              <a:srgbClr val="1A3A4A"/>
            </a:solidFill>
            <a:prstDash val="solid"/>
          </a:ln>
        </p:spPr>
        <p:txBody>
          <a:bodyPr/>
          <a:lstStyle/>
          <a:p>
            <a:endParaRPr lang="en-US"/>
          </a:p>
        </p:txBody>
      </p:sp>
      <p:sp>
        <p:nvSpPr>
          <p:cNvPr id="7" name="Shape 5"/>
          <p:cNvSpPr/>
          <p:nvPr/>
        </p:nvSpPr>
        <p:spPr>
          <a:xfrm>
            <a:off x="548640" y="1426464"/>
            <a:ext cx="640080" cy="640080"/>
          </a:xfrm>
          <a:prstGeom prst="ellipse">
            <a:avLst/>
          </a:prstGeom>
          <a:solidFill>
            <a:srgbClr val="1A3A4A"/>
          </a:solidFill>
          <a:ln w="12700">
            <a:solidFill>
              <a:srgbClr val="1A3A4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21792" y="1499616"/>
            <a:ext cx="493776" cy="493776"/>
          </a:xfrm>
          <a:prstGeom prst="rect">
            <a:avLst/>
          </a:prstGeom>
        </p:spPr>
      </p:pic>
      <p:sp>
        <p:nvSpPr>
          <p:cNvPr id="9" name="Text 6"/>
          <p:cNvSpPr/>
          <p:nvPr/>
        </p:nvSpPr>
        <p:spPr>
          <a:xfrm>
            <a:off x="1353312" y="1280160"/>
            <a:ext cx="2011680" cy="256032"/>
          </a:xfrm>
          <a:prstGeom prst="rect">
            <a:avLst/>
          </a:prstGeom>
          <a:noFill/>
          <a:ln/>
        </p:spPr>
        <p:txBody>
          <a:bodyPr wrap="square" lIns="0" tIns="0" rIns="0" bIns="0" rtlCol="0" anchor="ctr"/>
          <a:lstStyle/>
          <a:p>
            <a:pPr marL="0" indent="0">
              <a:buNone/>
            </a:pPr>
            <a:r>
              <a:rPr lang="en-US" sz="900" b="1" kern="0" spc="150" dirty="0">
                <a:solidFill>
                  <a:srgbClr val="1A3A4A"/>
                </a:solidFill>
                <a:latin typeface="Calibri" pitchFamily="34" charset="0"/>
                <a:ea typeface="Calibri" pitchFamily="34" charset="-122"/>
                <a:cs typeface="Calibri" pitchFamily="34" charset="-120"/>
              </a:rPr>
              <a:t>PATIENT LAYER</a:t>
            </a:r>
            <a:endParaRPr lang="en-US" sz="900" dirty="0"/>
          </a:p>
        </p:txBody>
      </p:sp>
      <p:sp>
        <p:nvSpPr>
          <p:cNvPr id="10" name="Text 7"/>
          <p:cNvSpPr/>
          <p:nvPr/>
        </p:nvSpPr>
        <p:spPr>
          <a:xfrm>
            <a:off x="1353312" y="1517904"/>
            <a:ext cx="2194560" cy="365760"/>
          </a:xfrm>
          <a:prstGeom prst="rect">
            <a:avLst/>
          </a:prstGeom>
          <a:noFill/>
          <a:ln/>
        </p:spPr>
        <p:txBody>
          <a:bodyPr wrap="square" lIns="0" tIns="0" rIns="0" bIns="0" rtlCol="0" anchor="ctr"/>
          <a:lstStyle/>
          <a:p>
            <a:pPr marL="0" indent="0">
              <a:buNone/>
            </a:pPr>
            <a:r>
              <a:rPr lang="en-US" sz="1400" b="1" dirty="0">
                <a:solidFill>
                  <a:srgbClr val="1A2E35"/>
                </a:solidFill>
                <a:latin typeface="Trebuchet MS" pitchFamily="34" charset="0"/>
                <a:ea typeface="Trebuchet MS" pitchFamily="34" charset="-122"/>
                <a:cs typeface="Trebuchet MS" pitchFamily="34" charset="-120"/>
              </a:rPr>
              <a:t>Unity WebGL (Soma+)</a:t>
            </a:r>
            <a:endParaRPr lang="en-US" sz="1400" dirty="0"/>
          </a:p>
        </p:txBody>
      </p:sp>
      <p:sp>
        <p:nvSpPr>
          <p:cNvPr id="11" name="Text 8"/>
          <p:cNvSpPr/>
          <p:nvPr/>
        </p:nvSpPr>
        <p:spPr>
          <a:xfrm>
            <a:off x="3566160" y="1335024"/>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3D Body-map somatic tracking UI</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Session flow &amp; gamification</a:t>
            </a:r>
            <a:endParaRPr lang="en-US" sz="1400" dirty="0"/>
          </a:p>
        </p:txBody>
      </p:sp>
      <p:sp>
        <p:nvSpPr>
          <p:cNvPr id="12" name="Text 9"/>
          <p:cNvSpPr/>
          <p:nvPr/>
        </p:nvSpPr>
        <p:spPr>
          <a:xfrm>
            <a:off x="6080760" y="1335024"/>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Streak, adherence &amp; feedback</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Triggers voice &amp; data logging via bridge</a:t>
            </a:r>
            <a:endParaRPr lang="en-US" sz="1400" dirty="0"/>
          </a:p>
        </p:txBody>
      </p:sp>
      <p:sp>
        <p:nvSpPr>
          <p:cNvPr id="13" name="Shape 10"/>
          <p:cNvSpPr/>
          <p:nvPr/>
        </p:nvSpPr>
        <p:spPr>
          <a:xfrm>
            <a:off x="347472" y="2441448"/>
            <a:ext cx="8449056" cy="1115568"/>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1"/>
          <p:cNvSpPr/>
          <p:nvPr/>
        </p:nvSpPr>
        <p:spPr>
          <a:xfrm>
            <a:off x="347472" y="2441448"/>
            <a:ext cx="91440" cy="1115568"/>
          </a:xfrm>
          <a:prstGeom prst="rect">
            <a:avLst/>
          </a:prstGeom>
          <a:solidFill>
            <a:srgbClr val="0D7A8A"/>
          </a:solidFill>
          <a:ln w="12700">
            <a:solidFill>
              <a:srgbClr val="0D7A8A"/>
            </a:solidFill>
            <a:prstDash val="solid"/>
          </a:ln>
        </p:spPr>
        <p:txBody>
          <a:bodyPr/>
          <a:lstStyle/>
          <a:p>
            <a:endParaRPr lang="en-US"/>
          </a:p>
        </p:txBody>
      </p:sp>
      <p:sp>
        <p:nvSpPr>
          <p:cNvPr id="15" name="Shape 12"/>
          <p:cNvSpPr/>
          <p:nvPr/>
        </p:nvSpPr>
        <p:spPr>
          <a:xfrm>
            <a:off x="548640" y="2679192"/>
            <a:ext cx="640080" cy="640080"/>
          </a:xfrm>
          <a:prstGeom prst="ellipse">
            <a:avLst/>
          </a:prstGeom>
          <a:solidFill>
            <a:srgbClr val="0D7A8A"/>
          </a:solidFill>
          <a:ln w="12700">
            <a:solidFill>
              <a:srgbClr val="0D7A8A"/>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21792" y="2752344"/>
            <a:ext cx="493776" cy="493776"/>
          </a:xfrm>
          <a:prstGeom prst="rect">
            <a:avLst/>
          </a:prstGeom>
        </p:spPr>
      </p:pic>
      <p:sp>
        <p:nvSpPr>
          <p:cNvPr id="17" name="Text 13"/>
          <p:cNvSpPr/>
          <p:nvPr/>
        </p:nvSpPr>
        <p:spPr>
          <a:xfrm>
            <a:off x="1353312" y="2532888"/>
            <a:ext cx="2011680" cy="256032"/>
          </a:xfrm>
          <a:prstGeom prst="rect">
            <a:avLst/>
          </a:prstGeom>
          <a:noFill/>
          <a:ln/>
        </p:spPr>
        <p:txBody>
          <a:bodyPr wrap="square" lIns="0" tIns="0" rIns="0" bIns="0" rtlCol="0" anchor="ctr"/>
          <a:lstStyle/>
          <a:p>
            <a:pPr marL="0" indent="0">
              <a:buNone/>
            </a:pPr>
            <a:r>
              <a:rPr lang="en-US" sz="900" b="1" kern="0" spc="150" dirty="0">
                <a:solidFill>
                  <a:srgbClr val="0D7A8A"/>
                </a:solidFill>
                <a:latin typeface="Calibri" pitchFamily="34" charset="0"/>
                <a:ea typeface="Calibri" pitchFamily="34" charset="-122"/>
                <a:cs typeface="Calibri" pitchFamily="34" charset="-120"/>
              </a:rPr>
              <a:t>COACHING LAYER</a:t>
            </a:r>
            <a:endParaRPr lang="en-US" sz="900" dirty="0"/>
          </a:p>
        </p:txBody>
      </p:sp>
      <p:sp>
        <p:nvSpPr>
          <p:cNvPr id="18" name="Text 14"/>
          <p:cNvSpPr/>
          <p:nvPr/>
        </p:nvSpPr>
        <p:spPr>
          <a:xfrm>
            <a:off x="1353312" y="2770632"/>
            <a:ext cx="2194560" cy="365760"/>
          </a:xfrm>
          <a:prstGeom prst="rect">
            <a:avLst/>
          </a:prstGeom>
          <a:noFill/>
          <a:ln/>
        </p:spPr>
        <p:txBody>
          <a:bodyPr wrap="square" lIns="0" tIns="0" rIns="0" bIns="0" rtlCol="0" anchor="ctr"/>
          <a:lstStyle/>
          <a:p>
            <a:pPr marL="0" indent="0">
              <a:buNone/>
            </a:pPr>
            <a:r>
              <a:rPr lang="en-US" sz="1400" b="1" dirty="0">
                <a:solidFill>
                  <a:srgbClr val="1A2E35"/>
                </a:solidFill>
                <a:latin typeface="Trebuchet MS" pitchFamily="34" charset="0"/>
                <a:ea typeface="Trebuchet MS" pitchFamily="34" charset="-122"/>
                <a:cs typeface="Trebuchet MS" pitchFamily="34" charset="-120"/>
              </a:rPr>
              <a:t>Next.js 14 + ElevenLabs</a:t>
            </a:r>
            <a:endParaRPr lang="en-US" sz="1400" dirty="0"/>
          </a:p>
        </p:txBody>
      </p:sp>
      <p:sp>
        <p:nvSpPr>
          <p:cNvPr id="19" name="Text 15"/>
          <p:cNvSpPr/>
          <p:nvPr/>
        </p:nvSpPr>
        <p:spPr>
          <a:xfrm>
            <a:off x="3566160" y="2587752"/>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Streams Unity build (no copy needed)</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ElevenLabs signed-URL voice sessions</a:t>
            </a:r>
            <a:endParaRPr lang="en-US" sz="1400" dirty="0"/>
          </a:p>
        </p:txBody>
      </p:sp>
      <p:sp>
        <p:nvSpPr>
          <p:cNvPr id="20" name="Text 16"/>
          <p:cNvSpPr/>
          <p:nvPr/>
        </p:nvSpPr>
        <p:spPr>
          <a:xfrm>
            <a:off x="6080760" y="2587752"/>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Pain context injected into every conversation</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Progress dashboard + session storage</a:t>
            </a:r>
            <a:endParaRPr lang="en-US" sz="1400" dirty="0"/>
          </a:p>
        </p:txBody>
      </p:sp>
      <p:sp>
        <p:nvSpPr>
          <p:cNvPr id="21" name="Shape 17"/>
          <p:cNvSpPr/>
          <p:nvPr/>
        </p:nvSpPr>
        <p:spPr>
          <a:xfrm>
            <a:off x="347472" y="3694176"/>
            <a:ext cx="8449056" cy="1115568"/>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18"/>
          <p:cNvSpPr/>
          <p:nvPr/>
        </p:nvSpPr>
        <p:spPr>
          <a:xfrm>
            <a:off x="347472" y="3694176"/>
            <a:ext cx="91440" cy="1115568"/>
          </a:xfrm>
          <a:prstGeom prst="rect">
            <a:avLst/>
          </a:prstGeom>
          <a:solidFill>
            <a:srgbClr val="00B4A0"/>
          </a:solidFill>
          <a:ln w="12700">
            <a:solidFill>
              <a:srgbClr val="00B4A0"/>
            </a:solidFill>
            <a:prstDash val="solid"/>
          </a:ln>
        </p:spPr>
        <p:txBody>
          <a:bodyPr/>
          <a:lstStyle/>
          <a:p>
            <a:endParaRPr lang="en-US"/>
          </a:p>
        </p:txBody>
      </p:sp>
      <p:sp>
        <p:nvSpPr>
          <p:cNvPr id="23" name="Shape 19"/>
          <p:cNvSpPr/>
          <p:nvPr/>
        </p:nvSpPr>
        <p:spPr>
          <a:xfrm>
            <a:off x="548640" y="3931920"/>
            <a:ext cx="640080" cy="640080"/>
          </a:xfrm>
          <a:prstGeom prst="ellipse">
            <a:avLst/>
          </a:prstGeom>
          <a:solidFill>
            <a:srgbClr val="00B4A0"/>
          </a:solidFill>
          <a:ln w="12700">
            <a:solidFill>
              <a:srgbClr val="00B4A0"/>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621792" y="4005072"/>
            <a:ext cx="493776" cy="493776"/>
          </a:xfrm>
          <a:prstGeom prst="rect">
            <a:avLst/>
          </a:prstGeom>
        </p:spPr>
      </p:pic>
      <p:sp>
        <p:nvSpPr>
          <p:cNvPr id="25" name="Text 20"/>
          <p:cNvSpPr/>
          <p:nvPr/>
        </p:nvSpPr>
        <p:spPr>
          <a:xfrm>
            <a:off x="1353312" y="3785616"/>
            <a:ext cx="2011680" cy="256032"/>
          </a:xfrm>
          <a:prstGeom prst="rect">
            <a:avLst/>
          </a:prstGeom>
          <a:noFill/>
          <a:ln/>
        </p:spPr>
        <p:txBody>
          <a:bodyPr wrap="square" lIns="0" tIns="0" rIns="0" bIns="0" rtlCol="0" anchor="ctr"/>
          <a:lstStyle/>
          <a:p>
            <a:pPr marL="0" indent="0">
              <a:buNone/>
            </a:pPr>
            <a:r>
              <a:rPr lang="en-US" sz="900" b="1" kern="0" spc="150" dirty="0">
                <a:solidFill>
                  <a:srgbClr val="00B4A0"/>
                </a:solidFill>
                <a:latin typeface="Calibri" pitchFamily="34" charset="0"/>
                <a:ea typeface="Calibri" pitchFamily="34" charset="-122"/>
                <a:cs typeface="Calibri" pitchFamily="34" charset="-120"/>
              </a:rPr>
              <a:t>INTELLIGENCE LAYER</a:t>
            </a:r>
            <a:endParaRPr lang="en-US" sz="900" dirty="0"/>
          </a:p>
        </p:txBody>
      </p:sp>
      <p:sp>
        <p:nvSpPr>
          <p:cNvPr id="26" name="Text 21"/>
          <p:cNvSpPr/>
          <p:nvPr/>
        </p:nvSpPr>
        <p:spPr>
          <a:xfrm>
            <a:off x="1353312" y="4023360"/>
            <a:ext cx="2194560" cy="365760"/>
          </a:xfrm>
          <a:prstGeom prst="rect">
            <a:avLst/>
          </a:prstGeom>
          <a:noFill/>
          <a:ln/>
        </p:spPr>
        <p:txBody>
          <a:bodyPr wrap="square" lIns="0" tIns="0" rIns="0" bIns="0" rtlCol="0" anchor="ctr"/>
          <a:lstStyle/>
          <a:p>
            <a:pPr marL="0" indent="0">
              <a:buNone/>
            </a:pPr>
            <a:r>
              <a:rPr lang="en-US" sz="1400" b="1" dirty="0">
                <a:solidFill>
                  <a:srgbClr val="1A2E35"/>
                </a:solidFill>
                <a:latin typeface="Trebuchet MS" pitchFamily="34" charset="0"/>
                <a:ea typeface="Trebuchet MS" pitchFamily="34" charset="-122"/>
                <a:cs typeface="Trebuchet MS" pitchFamily="34" charset="-120"/>
              </a:rPr>
              <a:t>Python ML / RAG</a:t>
            </a:r>
            <a:endParaRPr lang="en-US" sz="1400" dirty="0"/>
          </a:p>
        </p:txBody>
      </p:sp>
      <p:sp>
        <p:nvSpPr>
          <p:cNvPr id="27" name="Text 22"/>
          <p:cNvSpPr/>
          <p:nvPr/>
        </p:nvSpPr>
        <p:spPr>
          <a:xfrm>
            <a:off x="3566160" y="3840480"/>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RAG over PRT clinical materials (e.g. PRT </a:t>
            </a:r>
            <a:r>
              <a:rPr lang="en-US" sz="1400" dirty="0" err="1">
                <a:solidFill>
                  <a:srgbClr val="4A6572"/>
                </a:solidFill>
                <a:latin typeface="Calibri" pitchFamily="34" charset="0"/>
                <a:ea typeface="Calibri" pitchFamily="34" charset="-122"/>
                <a:cs typeface="Calibri" pitchFamily="34" charset="-120"/>
              </a:rPr>
              <a:t>wrkbk</a:t>
            </a:r>
            <a:r>
              <a:rPr lang="en-US" sz="1400" dirty="0">
                <a:solidFill>
                  <a:srgbClr val="4A6572"/>
                </a:solidFill>
                <a:latin typeface="Calibri" pitchFamily="34" charset="0"/>
                <a:ea typeface="Calibri" pitchFamily="34" charset="-122"/>
                <a:cs typeface="Calibri" pitchFamily="34" charset="-120"/>
              </a:rPr>
              <a:t>)</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Policy v2 — safety rules &amp; scope guards</a:t>
            </a:r>
            <a:endParaRPr lang="en-US" sz="1400" dirty="0"/>
          </a:p>
        </p:txBody>
      </p:sp>
      <p:sp>
        <p:nvSpPr>
          <p:cNvPr id="28" name="Text 23"/>
          <p:cNvSpPr/>
          <p:nvPr/>
        </p:nvSpPr>
        <p:spPr>
          <a:xfrm>
            <a:off x="6080760" y="3840480"/>
            <a:ext cx="2377440" cy="82296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10k-row PRT dataset for coaching grounding</a:t>
            </a:r>
            <a:endParaRPr lang="en-US" sz="1400" dirty="0"/>
          </a:p>
          <a:p>
            <a:pPr marL="342900" indent="-342900">
              <a:spcAft>
                <a:spcPts val="200"/>
              </a:spcAft>
              <a:buSzPct val="100000"/>
              <a:buChar char="•"/>
            </a:pPr>
            <a:r>
              <a:rPr lang="en-US" sz="1400" dirty="0">
                <a:solidFill>
                  <a:srgbClr val="4A6572"/>
                </a:solidFill>
                <a:latin typeface="Calibri" pitchFamily="34" charset="0"/>
                <a:ea typeface="Calibri" pitchFamily="34" charset="-122"/>
                <a:cs typeface="Calibri" pitchFamily="34" charset="-120"/>
              </a:rPr>
              <a:t>Deepgram STT · Baseten GPT-OSS · HuggingFace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Safety by Design</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sz="2400"/>
          </a:p>
        </p:txBody>
      </p:sp>
      <p:sp>
        <p:nvSpPr>
          <p:cNvPr id="4" name="Text 2"/>
          <p:cNvSpPr/>
          <p:nvPr/>
        </p:nvSpPr>
        <p:spPr>
          <a:xfrm>
            <a:off x="457200" y="777240"/>
            <a:ext cx="8229600" cy="320040"/>
          </a:xfrm>
          <a:prstGeom prst="rect">
            <a:avLst/>
          </a:prstGeom>
          <a:noFill/>
          <a:ln/>
        </p:spPr>
        <p:txBody>
          <a:bodyPr wrap="square" lIns="0" tIns="0" rIns="0" bIns="0" rtlCol="0" anchor="ctr"/>
          <a:lstStyle/>
          <a:p>
            <a:pPr marL="0" indent="0">
              <a:buNone/>
            </a:pPr>
            <a:r>
              <a:rPr lang="en-US" sz="1600" dirty="0">
                <a:solidFill>
                  <a:srgbClr val="4A6572"/>
                </a:solidFill>
                <a:latin typeface="Calibri" pitchFamily="34" charset="0"/>
                <a:ea typeface="Calibri" pitchFamily="34" charset="-122"/>
                <a:cs typeface="Calibri" pitchFamily="34" charset="-120"/>
              </a:rPr>
              <a:t>Clinical safeguards are not an afterthought — they are encoded in the system from day one.</a:t>
            </a:r>
            <a:endParaRPr lang="en-US" sz="1600" dirty="0"/>
          </a:p>
        </p:txBody>
      </p:sp>
      <p:sp>
        <p:nvSpPr>
          <p:cNvPr id="5" name="Shape 3"/>
          <p:cNvSpPr/>
          <p:nvPr/>
        </p:nvSpPr>
        <p:spPr>
          <a:xfrm>
            <a:off x="347472" y="1170432"/>
            <a:ext cx="4133088" cy="162763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400"/>
          </a:p>
        </p:txBody>
      </p:sp>
      <p:sp>
        <p:nvSpPr>
          <p:cNvPr id="6" name="Shape 4"/>
          <p:cNvSpPr/>
          <p:nvPr/>
        </p:nvSpPr>
        <p:spPr>
          <a:xfrm>
            <a:off x="347472" y="1170432"/>
            <a:ext cx="64008" cy="1627632"/>
          </a:xfrm>
          <a:prstGeom prst="rect">
            <a:avLst/>
          </a:prstGeom>
          <a:solidFill>
            <a:srgbClr val="0D7A8A"/>
          </a:solidFill>
          <a:ln w="12700">
            <a:solidFill>
              <a:srgbClr val="0D7A8A"/>
            </a:solidFill>
            <a:prstDash val="solid"/>
          </a:ln>
        </p:spPr>
        <p:txBody>
          <a:bodyPr/>
          <a:lstStyle/>
          <a:p>
            <a:endParaRPr lang="en-US" sz="2400"/>
          </a:p>
        </p:txBody>
      </p:sp>
      <p:sp>
        <p:nvSpPr>
          <p:cNvPr id="7" name="Shape 5"/>
          <p:cNvSpPr/>
          <p:nvPr/>
        </p:nvSpPr>
        <p:spPr>
          <a:xfrm>
            <a:off x="512064" y="1307592"/>
            <a:ext cx="512064" cy="512064"/>
          </a:xfrm>
          <a:prstGeom prst="ellipse">
            <a:avLst/>
          </a:prstGeom>
          <a:solidFill>
            <a:srgbClr val="0D7A8A"/>
          </a:solidFill>
          <a:ln w="12700">
            <a:solidFill>
              <a:srgbClr val="0D7A8A"/>
            </a:solidFill>
            <a:prstDash val="solid"/>
          </a:ln>
        </p:spPr>
        <p:txBody>
          <a:bodyPr/>
          <a:lstStyle/>
          <a:p>
            <a:endParaRPr lang="en-US" sz="2400"/>
          </a:p>
        </p:txBody>
      </p:sp>
      <p:pic>
        <p:nvPicPr>
          <p:cNvPr id="8" name="Image 0" descr="preencoded.png"/>
          <p:cNvPicPr>
            <a:picLocks noChangeAspect="1"/>
          </p:cNvPicPr>
          <p:nvPr/>
        </p:nvPicPr>
        <p:blipFill>
          <a:blip r:embed="rId3"/>
          <a:stretch>
            <a:fillRect/>
          </a:stretch>
        </p:blipFill>
        <p:spPr>
          <a:xfrm>
            <a:off x="585216" y="1380744"/>
            <a:ext cx="365760" cy="365760"/>
          </a:xfrm>
          <a:prstGeom prst="rect">
            <a:avLst/>
          </a:prstGeom>
        </p:spPr>
      </p:pic>
      <p:sp>
        <p:nvSpPr>
          <p:cNvPr id="9" name="Text 6"/>
          <p:cNvSpPr/>
          <p:nvPr/>
        </p:nvSpPr>
        <p:spPr>
          <a:xfrm>
            <a:off x="1152144" y="1298448"/>
            <a:ext cx="3154680" cy="365760"/>
          </a:xfrm>
          <a:prstGeom prst="rect">
            <a:avLst/>
          </a:prstGeom>
          <a:noFill/>
          <a:ln/>
        </p:spPr>
        <p:txBody>
          <a:bodyPr wrap="square" lIns="0" tIns="0" rIns="0" bIns="0" rtlCol="0" anchor="ctr"/>
          <a:lstStyle/>
          <a:p>
            <a:pPr marL="0" indent="0">
              <a:buNone/>
            </a:pPr>
            <a:r>
              <a:rPr lang="en-US" sz="1600" b="1" dirty="0">
                <a:solidFill>
                  <a:srgbClr val="1A2E35"/>
                </a:solidFill>
                <a:latin typeface="Trebuchet MS" pitchFamily="34" charset="0"/>
                <a:ea typeface="Trebuchet MS" pitchFamily="34" charset="-122"/>
                <a:cs typeface="Trebuchet MS" pitchFamily="34" charset="-120"/>
              </a:rPr>
              <a:t>PRT Clinical Grounding</a:t>
            </a:r>
            <a:endParaRPr lang="en-US" sz="1600" dirty="0"/>
          </a:p>
        </p:txBody>
      </p:sp>
      <p:sp>
        <p:nvSpPr>
          <p:cNvPr id="10" name="Text 7"/>
          <p:cNvSpPr/>
          <p:nvPr/>
        </p:nvSpPr>
        <p:spPr>
          <a:xfrm>
            <a:off x="512064" y="1810512"/>
            <a:ext cx="3794760" cy="896112"/>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All coaching content derives from Pain Reprocessing Therapy (Ashar et al., 2022 JAMA Psychiatry and Vanessa et </a:t>
            </a:r>
            <a:r>
              <a:rPr lang="en-US" sz="1200" dirty="0" err="1">
                <a:solidFill>
                  <a:srgbClr val="4A6572"/>
                </a:solidFill>
                <a:latin typeface="Calibri" pitchFamily="34" charset="0"/>
                <a:ea typeface="Calibri" pitchFamily="34" charset="-122"/>
                <a:cs typeface="Calibri" pitchFamily="34" charset="-120"/>
              </a:rPr>
              <a:t>al.,The</a:t>
            </a:r>
            <a:r>
              <a:rPr lang="en-US" sz="1200" dirty="0">
                <a:solidFill>
                  <a:srgbClr val="4A6572"/>
                </a:solidFill>
                <a:latin typeface="Calibri" pitchFamily="34" charset="0"/>
                <a:ea typeface="Calibri" pitchFamily="34" charset="-122"/>
                <a:cs typeface="Calibri" pitchFamily="34" charset="-120"/>
              </a:rPr>
              <a:t> Pain Reprocessing Therapy Workbook). The AI coach uses PRT-specific language: somatic tracking, reattribution, safe messaging. No generic pain advice.</a:t>
            </a:r>
            <a:endParaRPr lang="en-US" sz="1200" dirty="0"/>
          </a:p>
        </p:txBody>
      </p:sp>
      <p:sp>
        <p:nvSpPr>
          <p:cNvPr id="11" name="Shape 8"/>
          <p:cNvSpPr/>
          <p:nvPr/>
        </p:nvSpPr>
        <p:spPr>
          <a:xfrm>
            <a:off x="4681728" y="1170432"/>
            <a:ext cx="4133088" cy="162763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400"/>
          </a:p>
        </p:txBody>
      </p:sp>
      <p:sp>
        <p:nvSpPr>
          <p:cNvPr id="12" name="Shape 9"/>
          <p:cNvSpPr/>
          <p:nvPr/>
        </p:nvSpPr>
        <p:spPr>
          <a:xfrm>
            <a:off x="4681728" y="1170432"/>
            <a:ext cx="64008" cy="1627632"/>
          </a:xfrm>
          <a:prstGeom prst="rect">
            <a:avLst/>
          </a:prstGeom>
          <a:solidFill>
            <a:srgbClr val="0D7A8A"/>
          </a:solidFill>
          <a:ln w="12700">
            <a:solidFill>
              <a:srgbClr val="0D7A8A"/>
            </a:solidFill>
            <a:prstDash val="solid"/>
          </a:ln>
        </p:spPr>
        <p:txBody>
          <a:bodyPr/>
          <a:lstStyle/>
          <a:p>
            <a:endParaRPr lang="en-US" sz="2400"/>
          </a:p>
        </p:txBody>
      </p:sp>
      <p:sp>
        <p:nvSpPr>
          <p:cNvPr id="13" name="Shape 10"/>
          <p:cNvSpPr/>
          <p:nvPr/>
        </p:nvSpPr>
        <p:spPr>
          <a:xfrm>
            <a:off x="4846320" y="1307592"/>
            <a:ext cx="512064" cy="512064"/>
          </a:xfrm>
          <a:prstGeom prst="ellipse">
            <a:avLst/>
          </a:prstGeom>
          <a:solidFill>
            <a:srgbClr val="0D7A8A"/>
          </a:solidFill>
          <a:ln w="12700">
            <a:solidFill>
              <a:srgbClr val="0D7A8A"/>
            </a:solidFill>
            <a:prstDash val="solid"/>
          </a:ln>
        </p:spPr>
        <p:txBody>
          <a:bodyPr/>
          <a:lstStyle/>
          <a:p>
            <a:endParaRPr lang="en-US" sz="2400"/>
          </a:p>
        </p:txBody>
      </p:sp>
      <p:pic>
        <p:nvPicPr>
          <p:cNvPr id="14" name="Image 1" descr="preencoded.png"/>
          <p:cNvPicPr>
            <a:picLocks noChangeAspect="1"/>
          </p:cNvPicPr>
          <p:nvPr/>
        </p:nvPicPr>
        <p:blipFill>
          <a:blip r:embed="rId4"/>
          <a:stretch>
            <a:fillRect/>
          </a:stretch>
        </p:blipFill>
        <p:spPr>
          <a:xfrm>
            <a:off x="4919472" y="1380744"/>
            <a:ext cx="365760" cy="365760"/>
          </a:xfrm>
          <a:prstGeom prst="rect">
            <a:avLst/>
          </a:prstGeom>
        </p:spPr>
      </p:pic>
      <p:sp>
        <p:nvSpPr>
          <p:cNvPr id="15" name="Text 11"/>
          <p:cNvSpPr/>
          <p:nvPr/>
        </p:nvSpPr>
        <p:spPr>
          <a:xfrm>
            <a:off x="5486400" y="1298448"/>
            <a:ext cx="3154680" cy="365760"/>
          </a:xfrm>
          <a:prstGeom prst="rect">
            <a:avLst/>
          </a:prstGeom>
          <a:noFill/>
          <a:ln/>
        </p:spPr>
        <p:txBody>
          <a:bodyPr wrap="square" lIns="0" tIns="0" rIns="0" bIns="0" rtlCol="0" anchor="ctr"/>
          <a:lstStyle/>
          <a:p>
            <a:pPr marL="0" indent="0">
              <a:buNone/>
            </a:pPr>
            <a:r>
              <a:rPr lang="en-US" sz="1600" b="1" dirty="0">
                <a:solidFill>
                  <a:srgbClr val="1A2E35"/>
                </a:solidFill>
                <a:latin typeface="Trebuchet MS" pitchFamily="34" charset="0"/>
                <a:ea typeface="Trebuchet MS" pitchFamily="34" charset="-122"/>
                <a:cs typeface="Trebuchet MS" pitchFamily="34" charset="-120"/>
              </a:rPr>
              <a:t>Structured Coaching Policy (v2)</a:t>
            </a:r>
            <a:endParaRPr lang="en-US" sz="1600" dirty="0"/>
          </a:p>
        </p:txBody>
      </p:sp>
      <p:sp>
        <p:nvSpPr>
          <p:cNvPr id="16" name="Text 12"/>
          <p:cNvSpPr/>
          <p:nvPr/>
        </p:nvSpPr>
        <p:spPr>
          <a:xfrm>
            <a:off x="4846320" y="1810512"/>
            <a:ext cx="3794760" cy="896112"/>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policy_v2.json is a versioned, human-readable file that defines the coach's scope, escalation rules, and forbidden topics. It is reviewed and edited separately from code — a clinician can audit it directly.</a:t>
            </a:r>
            <a:endParaRPr lang="en-US" sz="1200" dirty="0"/>
          </a:p>
        </p:txBody>
      </p:sp>
      <p:sp>
        <p:nvSpPr>
          <p:cNvPr id="17" name="Shape 13"/>
          <p:cNvSpPr/>
          <p:nvPr/>
        </p:nvSpPr>
        <p:spPr>
          <a:xfrm>
            <a:off x="347472" y="2999232"/>
            <a:ext cx="4133088" cy="162763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400"/>
          </a:p>
        </p:txBody>
      </p:sp>
      <p:sp>
        <p:nvSpPr>
          <p:cNvPr id="18" name="Shape 14"/>
          <p:cNvSpPr/>
          <p:nvPr/>
        </p:nvSpPr>
        <p:spPr>
          <a:xfrm>
            <a:off x="347472" y="2999232"/>
            <a:ext cx="64008" cy="1627632"/>
          </a:xfrm>
          <a:prstGeom prst="rect">
            <a:avLst/>
          </a:prstGeom>
          <a:solidFill>
            <a:srgbClr val="E09A22"/>
          </a:solidFill>
          <a:ln w="12700">
            <a:solidFill>
              <a:srgbClr val="E09A22"/>
            </a:solidFill>
            <a:prstDash val="solid"/>
          </a:ln>
        </p:spPr>
        <p:txBody>
          <a:bodyPr/>
          <a:lstStyle/>
          <a:p>
            <a:endParaRPr lang="en-US" sz="2400"/>
          </a:p>
        </p:txBody>
      </p:sp>
      <p:sp>
        <p:nvSpPr>
          <p:cNvPr id="19" name="Shape 15"/>
          <p:cNvSpPr/>
          <p:nvPr/>
        </p:nvSpPr>
        <p:spPr>
          <a:xfrm>
            <a:off x="512064" y="3136392"/>
            <a:ext cx="512064" cy="512064"/>
          </a:xfrm>
          <a:prstGeom prst="ellipse">
            <a:avLst/>
          </a:prstGeom>
          <a:solidFill>
            <a:srgbClr val="E09A22"/>
          </a:solidFill>
          <a:ln w="12700">
            <a:solidFill>
              <a:srgbClr val="E09A22"/>
            </a:solidFill>
            <a:prstDash val="solid"/>
          </a:ln>
        </p:spPr>
        <p:txBody>
          <a:bodyPr/>
          <a:lstStyle/>
          <a:p>
            <a:endParaRPr lang="en-US" sz="2400"/>
          </a:p>
        </p:txBody>
      </p:sp>
      <p:pic>
        <p:nvPicPr>
          <p:cNvPr id="20" name="Image 2" descr="preencoded.png"/>
          <p:cNvPicPr>
            <a:picLocks noChangeAspect="1"/>
          </p:cNvPicPr>
          <p:nvPr/>
        </p:nvPicPr>
        <p:blipFill>
          <a:blip r:embed="rId5"/>
          <a:stretch>
            <a:fillRect/>
          </a:stretch>
        </p:blipFill>
        <p:spPr>
          <a:xfrm>
            <a:off x="585216" y="3209544"/>
            <a:ext cx="365760" cy="365760"/>
          </a:xfrm>
          <a:prstGeom prst="rect">
            <a:avLst/>
          </a:prstGeom>
        </p:spPr>
      </p:pic>
      <p:sp>
        <p:nvSpPr>
          <p:cNvPr id="21" name="Text 16"/>
          <p:cNvSpPr/>
          <p:nvPr/>
        </p:nvSpPr>
        <p:spPr>
          <a:xfrm>
            <a:off x="1152144" y="3127248"/>
            <a:ext cx="3154680" cy="365760"/>
          </a:xfrm>
          <a:prstGeom prst="rect">
            <a:avLst/>
          </a:prstGeom>
          <a:noFill/>
          <a:ln/>
        </p:spPr>
        <p:txBody>
          <a:bodyPr wrap="square" lIns="0" tIns="0" rIns="0" bIns="0" rtlCol="0" anchor="ctr"/>
          <a:lstStyle/>
          <a:p>
            <a:pPr marL="0" indent="0">
              <a:buNone/>
            </a:pPr>
            <a:r>
              <a:rPr lang="en-US" sz="1600" b="1" dirty="0">
                <a:solidFill>
                  <a:srgbClr val="1A2E35"/>
                </a:solidFill>
                <a:latin typeface="Trebuchet MS" pitchFamily="34" charset="0"/>
                <a:ea typeface="Trebuchet MS" pitchFamily="34" charset="-122"/>
                <a:cs typeface="Trebuchet MS" pitchFamily="34" charset="-120"/>
              </a:rPr>
              <a:t>Safety Escalation Rules</a:t>
            </a:r>
            <a:endParaRPr lang="en-US" sz="1600" dirty="0"/>
          </a:p>
        </p:txBody>
      </p:sp>
      <p:sp>
        <p:nvSpPr>
          <p:cNvPr id="22" name="Text 17"/>
          <p:cNvSpPr/>
          <p:nvPr/>
        </p:nvSpPr>
        <p:spPr>
          <a:xfrm>
            <a:off x="512064" y="3639312"/>
            <a:ext cx="3794760" cy="896112"/>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The policy includes explicit escalation triggers: suicidality, reports of worsening neurological symptoms, descriptions of acute injury, and expressions of medication misuse. These redirect to emergency resources immediately.</a:t>
            </a:r>
            <a:endParaRPr lang="en-US" sz="1200" dirty="0"/>
          </a:p>
        </p:txBody>
      </p:sp>
      <p:sp>
        <p:nvSpPr>
          <p:cNvPr id="23" name="Shape 18"/>
          <p:cNvSpPr/>
          <p:nvPr/>
        </p:nvSpPr>
        <p:spPr>
          <a:xfrm>
            <a:off x="4681728" y="2999232"/>
            <a:ext cx="4133088" cy="1627632"/>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400"/>
          </a:p>
        </p:txBody>
      </p:sp>
      <p:sp>
        <p:nvSpPr>
          <p:cNvPr id="24" name="Shape 19"/>
          <p:cNvSpPr/>
          <p:nvPr/>
        </p:nvSpPr>
        <p:spPr>
          <a:xfrm>
            <a:off x="4681728" y="2999232"/>
            <a:ext cx="64008" cy="1627632"/>
          </a:xfrm>
          <a:prstGeom prst="rect">
            <a:avLst/>
          </a:prstGeom>
          <a:solidFill>
            <a:srgbClr val="0D7A8A"/>
          </a:solidFill>
          <a:ln w="12700">
            <a:solidFill>
              <a:srgbClr val="0D7A8A"/>
            </a:solidFill>
            <a:prstDash val="solid"/>
          </a:ln>
        </p:spPr>
        <p:txBody>
          <a:bodyPr/>
          <a:lstStyle/>
          <a:p>
            <a:endParaRPr lang="en-US" sz="2400"/>
          </a:p>
        </p:txBody>
      </p:sp>
      <p:sp>
        <p:nvSpPr>
          <p:cNvPr id="25" name="Shape 20"/>
          <p:cNvSpPr/>
          <p:nvPr/>
        </p:nvSpPr>
        <p:spPr>
          <a:xfrm>
            <a:off x="4846320" y="3136392"/>
            <a:ext cx="512064" cy="512064"/>
          </a:xfrm>
          <a:prstGeom prst="ellipse">
            <a:avLst/>
          </a:prstGeom>
          <a:solidFill>
            <a:srgbClr val="0D7A8A"/>
          </a:solidFill>
          <a:ln w="12700">
            <a:solidFill>
              <a:srgbClr val="0D7A8A"/>
            </a:solidFill>
            <a:prstDash val="solid"/>
          </a:ln>
        </p:spPr>
        <p:txBody>
          <a:bodyPr/>
          <a:lstStyle/>
          <a:p>
            <a:endParaRPr lang="en-US" sz="2400"/>
          </a:p>
        </p:txBody>
      </p:sp>
      <p:pic>
        <p:nvPicPr>
          <p:cNvPr id="26" name="Image 3" descr="preencoded.png"/>
          <p:cNvPicPr>
            <a:picLocks noChangeAspect="1"/>
          </p:cNvPicPr>
          <p:nvPr/>
        </p:nvPicPr>
        <p:blipFill>
          <a:blip r:embed="rId6"/>
          <a:stretch>
            <a:fillRect/>
          </a:stretch>
        </p:blipFill>
        <p:spPr>
          <a:xfrm>
            <a:off x="4919472" y="3209544"/>
            <a:ext cx="365760" cy="365760"/>
          </a:xfrm>
          <a:prstGeom prst="rect">
            <a:avLst/>
          </a:prstGeom>
        </p:spPr>
      </p:pic>
      <p:sp>
        <p:nvSpPr>
          <p:cNvPr id="27" name="Text 21"/>
          <p:cNvSpPr/>
          <p:nvPr/>
        </p:nvSpPr>
        <p:spPr>
          <a:xfrm>
            <a:off x="5486400" y="3127248"/>
            <a:ext cx="3154680" cy="365760"/>
          </a:xfrm>
          <a:prstGeom prst="rect">
            <a:avLst/>
          </a:prstGeom>
          <a:noFill/>
          <a:ln/>
        </p:spPr>
        <p:txBody>
          <a:bodyPr wrap="square" lIns="0" tIns="0" rIns="0" bIns="0" rtlCol="0" anchor="ctr"/>
          <a:lstStyle/>
          <a:p>
            <a:pPr marL="0" indent="0">
              <a:buNone/>
            </a:pPr>
            <a:r>
              <a:rPr lang="en-US" sz="1600" b="1" dirty="0">
                <a:solidFill>
                  <a:srgbClr val="1A2E35"/>
                </a:solidFill>
                <a:latin typeface="Trebuchet MS" pitchFamily="34" charset="0"/>
                <a:ea typeface="Trebuchet MS" pitchFamily="34" charset="-122"/>
                <a:cs typeface="Trebuchet MS" pitchFamily="34" charset="-120"/>
              </a:rPr>
              <a:t>CITI Health Privacy Compliance</a:t>
            </a:r>
            <a:endParaRPr lang="en-US" sz="1600" dirty="0"/>
          </a:p>
        </p:txBody>
      </p:sp>
      <p:sp>
        <p:nvSpPr>
          <p:cNvPr id="28" name="Text 22"/>
          <p:cNvSpPr/>
          <p:nvPr/>
        </p:nvSpPr>
        <p:spPr>
          <a:xfrm>
            <a:off x="4846320" y="3639312"/>
            <a:ext cx="3794760" cy="896112"/>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CITI Human Subjects training (Health &amp; Privacy track) is completed. The demo uses browser localStorage with no PII transmitted to external servers. IRB-compliant consent flow is the first post-approval step.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29908F-7F75-4F89-9C99-771C5C15126C}"/>
              </a:ext>
            </a:extLst>
          </p:cNvPr>
          <p:cNvSpPr/>
          <p:nvPr/>
        </p:nvSpPr>
        <p:spPr>
          <a:xfrm>
            <a:off x="0" y="0"/>
            <a:ext cx="9144000" cy="5143500"/>
          </a:xfrm>
          <a:prstGeom prst="rect">
            <a:avLst/>
          </a:prstGeom>
          <a:solidFill>
            <a:schemeClr val="tx1">
              <a:lumMod val="85000"/>
              <a:lumOff val="1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276235-6784-3AE6-D55A-3EB857791E76}"/>
              </a:ext>
            </a:extLst>
          </p:cNvPr>
          <p:cNvSpPr txBox="1"/>
          <p:nvPr/>
        </p:nvSpPr>
        <p:spPr>
          <a:xfrm>
            <a:off x="327803" y="383222"/>
            <a:ext cx="7832785" cy="4760278"/>
          </a:xfrm>
          <a:prstGeom prst="rect">
            <a:avLst/>
          </a:prstGeom>
          <a:noFill/>
        </p:spPr>
        <p:txBody>
          <a:bodyPr wrap="square">
            <a:spAutoFit/>
          </a:bodyPr>
          <a:lstStyle/>
          <a:p>
            <a:pPr>
              <a:lnSpc>
                <a:spcPts val="1425"/>
              </a:lnSpc>
              <a:buNone/>
            </a:pPr>
            <a:r>
              <a:rPr lang="en-US" sz="1200" b="0" dirty="0">
                <a:solidFill>
                  <a:schemeClr val="bg2"/>
                </a:solidFill>
                <a:effectLst/>
                <a:latin typeface="Consolas" panose="020B0609020204030204" pitchFamily="49" charset="0"/>
              </a:rPr>
              <a:t>//policy_v2.json</a:t>
            </a:r>
          </a:p>
          <a:p>
            <a:pPr>
              <a:lnSpc>
                <a:spcPts val="1425"/>
              </a:lnSpc>
              <a:buNone/>
            </a:pPr>
            <a:r>
              <a:rPr lang="en-US" sz="1200" b="0" dirty="0">
                <a:solidFill>
                  <a:srgbClr val="7EE787"/>
                </a:solidFill>
                <a:effectLst/>
                <a:latin typeface="Consolas" panose="020B0609020204030204" pitchFamily="49" charset="0"/>
              </a:rPr>
              <a:t>"safety"</a:t>
            </a: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"disclaimer"</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"This is general well-being guidance, not medical advice."</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a:t>
            </a:r>
            <a:r>
              <a:rPr lang="en-US" sz="1200" b="0" dirty="0" err="1">
                <a:solidFill>
                  <a:srgbClr val="7EE787"/>
                </a:solidFill>
                <a:effectLst/>
                <a:latin typeface="Consolas" panose="020B0609020204030204" pitchFamily="49" charset="0"/>
              </a:rPr>
              <a:t>escalate_if_any</a:t>
            </a:r>
            <a:r>
              <a:rPr lang="en-US" sz="1200" b="0" dirty="0">
                <a:solidFill>
                  <a:srgbClr val="7EE787"/>
                </a:solidFill>
                <a:effectLst/>
                <a:latin typeface="Consolas" panose="020B0609020204030204" pitchFamily="49" charset="0"/>
              </a:rPr>
              <a:t>"</a:t>
            </a: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"rule"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"severity &gt;= 8 &amp;&amp; </a:t>
            </a:r>
            <a:r>
              <a:rPr lang="en-US" sz="1200" b="0" dirty="0" err="1">
                <a:solidFill>
                  <a:srgbClr val="A5D6FF"/>
                </a:solidFill>
                <a:effectLst/>
                <a:latin typeface="Consolas" panose="020B0609020204030204" pitchFamily="49" charset="0"/>
              </a:rPr>
              <a:t>days_since_onset</a:t>
            </a:r>
            <a:r>
              <a:rPr lang="en-US" sz="1200" b="0" dirty="0">
                <a:solidFill>
                  <a:srgbClr val="A5D6FF"/>
                </a:solidFill>
                <a:effectLst/>
                <a:latin typeface="Consolas" panose="020B0609020204030204" pitchFamily="49" charset="0"/>
              </a:rPr>
              <a:t> &gt;= 2"</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"message"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"Your pain sounds intense and persistent—consider contacting a clinician."</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"rule"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"region == 'chest' &amp;&amp; quality in ['</a:t>
            </a:r>
            <a:r>
              <a:rPr lang="en-US" sz="1200" b="0" dirty="0" err="1">
                <a:solidFill>
                  <a:srgbClr val="A5D6FF"/>
                </a:solidFill>
                <a:effectLst/>
                <a:latin typeface="Consolas" panose="020B0609020204030204" pitchFamily="49" charset="0"/>
              </a:rPr>
              <a:t>pressure','tightness','crushing</a:t>
            </a:r>
            <a:r>
              <a:rPr lang="en-US" sz="1200" b="0" dirty="0">
                <a:solidFill>
                  <a:srgbClr val="A5D6FF"/>
                </a:solidFill>
                <a:effectLst/>
                <a:latin typeface="Consolas" panose="020B0609020204030204" pitchFamily="49" charset="0"/>
              </a:rPr>
              <a:t>']"</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"message"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"Chest symptoms can be serious—seek urgent care if new or worsening."</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"rule"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"neuro == true"</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"message"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"New numbness, weakness, or loss of bladder/bowel control—seek medical care."</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"rule"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"trauma == true"</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7EE787"/>
                </a:solidFill>
                <a:effectLst/>
                <a:latin typeface="Consolas" panose="020B0609020204030204" pitchFamily="49" charset="0"/>
              </a:rPr>
              <a:t>"message"</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"After an injury, please get checked by a clinician."</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a:solidFill>
                  <a:srgbClr val="BBBEBF"/>
                </a:solidFill>
                <a:effectLst/>
                <a:latin typeface="Consolas" panose="020B0609020204030204" pitchFamily="49" charset="0"/>
              </a:rPr>
              <a:t>// more...</a:t>
            </a:r>
          </a:p>
        </p:txBody>
      </p:sp>
    </p:spTree>
    <p:extLst>
      <p:ext uri="{BB962C8B-B14F-4D97-AF65-F5344CB8AC3E}">
        <p14:creationId xmlns:p14="http://schemas.microsoft.com/office/powerpoint/2010/main" val="720779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B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Proposed Pilot: 5–10 Patients (What’s next?)</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sz="2800"/>
          </a:p>
        </p:txBody>
      </p:sp>
      <p:sp>
        <p:nvSpPr>
          <p:cNvPr id="4" name="Shape 2"/>
          <p:cNvSpPr/>
          <p:nvPr/>
        </p:nvSpPr>
        <p:spPr>
          <a:xfrm>
            <a:off x="347472" y="868680"/>
            <a:ext cx="4663440" cy="393192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800"/>
          </a:p>
        </p:txBody>
      </p:sp>
      <p:sp>
        <p:nvSpPr>
          <p:cNvPr id="5" name="Shape 3"/>
          <p:cNvSpPr/>
          <p:nvPr/>
        </p:nvSpPr>
        <p:spPr>
          <a:xfrm>
            <a:off x="347472" y="868680"/>
            <a:ext cx="64008" cy="3931920"/>
          </a:xfrm>
          <a:prstGeom prst="rect">
            <a:avLst/>
          </a:prstGeom>
          <a:solidFill>
            <a:srgbClr val="0D7A8A"/>
          </a:solidFill>
          <a:ln w="12700">
            <a:solidFill>
              <a:srgbClr val="0D7A8A"/>
            </a:solidFill>
            <a:prstDash val="solid"/>
          </a:ln>
        </p:spPr>
        <p:txBody>
          <a:bodyPr/>
          <a:lstStyle/>
          <a:p>
            <a:endParaRPr lang="en-US" sz="2800"/>
          </a:p>
        </p:txBody>
      </p:sp>
      <p:sp>
        <p:nvSpPr>
          <p:cNvPr id="6" name="Text 4"/>
          <p:cNvSpPr/>
          <p:nvPr/>
        </p:nvSpPr>
        <p:spPr>
          <a:xfrm>
            <a:off x="566928" y="987552"/>
            <a:ext cx="4251960" cy="347472"/>
          </a:xfrm>
          <a:prstGeom prst="rect">
            <a:avLst/>
          </a:prstGeom>
          <a:noFill/>
          <a:ln/>
        </p:spPr>
        <p:txBody>
          <a:bodyPr wrap="square" lIns="0" tIns="0" rIns="0" bIns="0" rtlCol="0" anchor="ctr"/>
          <a:lstStyle/>
          <a:p>
            <a:pPr marL="0" indent="0">
              <a:buNone/>
            </a:pPr>
            <a:r>
              <a:rPr lang="en-US" sz="2000" b="1" dirty="0">
                <a:solidFill>
                  <a:srgbClr val="1A2E35"/>
                </a:solidFill>
                <a:latin typeface="Trebuchet MS" pitchFamily="34" charset="0"/>
                <a:ea typeface="Trebuchet MS" pitchFamily="34" charset="-122"/>
                <a:cs typeface="Trebuchet MS" pitchFamily="34" charset="-120"/>
              </a:rPr>
              <a:t>What We Would Measure</a:t>
            </a:r>
            <a:endParaRPr lang="en-US" sz="2000" dirty="0"/>
          </a:p>
        </p:txBody>
      </p:sp>
      <p:sp>
        <p:nvSpPr>
          <p:cNvPr id="7" name="Text 5"/>
          <p:cNvSpPr/>
          <p:nvPr/>
        </p:nvSpPr>
        <p:spPr>
          <a:xfrm>
            <a:off x="566928" y="1426464"/>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Primary:</a:t>
            </a:r>
            <a:endParaRPr lang="en-US" sz="1200" dirty="0"/>
          </a:p>
        </p:txBody>
      </p:sp>
      <p:sp>
        <p:nvSpPr>
          <p:cNvPr id="8" name="Text 6"/>
          <p:cNvSpPr/>
          <p:nvPr/>
        </p:nvSpPr>
        <p:spPr>
          <a:xfrm>
            <a:off x="1371600" y="1426464"/>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Pain severity trend over 4 weeks (0–10 NRS)</a:t>
            </a:r>
            <a:endParaRPr lang="en-US" sz="1400" dirty="0"/>
          </a:p>
        </p:txBody>
      </p:sp>
      <p:sp>
        <p:nvSpPr>
          <p:cNvPr id="9" name="Text 7"/>
          <p:cNvSpPr/>
          <p:nvPr/>
        </p:nvSpPr>
        <p:spPr>
          <a:xfrm>
            <a:off x="566928" y="1874520"/>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Primary:</a:t>
            </a:r>
            <a:endParaRPr lang="en-US" sz="1200" dirty="0"/>
          </a:p>
        </p:txBody>
      </p:sp>
      <p:sp>
        <p:nvSpPr>
          <p:cNvPr id="10" name="Text 8"/>
          <p:cNvSpPr/>
          <p:nvPr/>
        </p:nvSpPr>
        <p:spPr>
          <a:xfrm>
            <a:off x="1371600" y="1874520"/>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App engagement &amp; session completion rate</a:t>
            </a:r>
            <a:endParaRPr lang="en-US" sz="1400" dirty="0"/>
          </a:p>
        </p:txBody>
      </p:sp>
      <p:sp>
        <p:nvSpPr>
          <p:cNvPr id="11" name="Text 9"/>
          <p:cNvSpPr/>
          <p:nvPr/>
        </p:nvSpPr>
        <p:spPr>
          <a:xfrm>
            <a:off x="566928" y="2322576"/>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Secondary:</a:t>
            </a:r>
            <a:endParaRPr lang="en-US" sz="1200" dirty="0"/>
          </a:p>
        </p:txBody>
      </p:sp>
      <p:sp>
        <p:nvSpPr>
          <p:cNvPr id="12" name="Text 10"/>
          <p:cNvSpPr/>
          <p:nvPr/>
        </p:nvSpPr>
        <p:spPr>
          <a:xfrm>
            <a:off x="1371600" y="2322576"/>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BPI (Brief Pain Inventory) — pre/post</a:t>
            </a:r>
            <a:endParaRPr lang="en-US" sz="1400" dirty="0"/>
          </a:p>
        </p:txBody>
      </p:sp>
      <p:sp>
        <p:nvSpPr>
          <p:cNvPr id="13" name="Text 11"/>
          <p:cNvSpPr/>
          <p:nvPr/>
        </p:nvSpPr>
        <p:spPr>
          <a:xfrm>
            <a:off x="566928" y="2770632"/>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Secondary:</a:t>
            </a:r>
            <a:endParaRPr lang="en-US" sz="1200" dirty="0"/>
          </a:p>
        </p:txBody>
      </p:sp>
      <p:sp>
        <p:nvSpPr>
          <p:cNvPr id="14" name="Text 12"/>
          <p:cNvSpPr/>
          <p:nvPr/>
        </p:nvSpPr>
        <p:spPr>
          <a:xfrm>
            <a:off x="1371600" y="2770632"/>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PCS-4 (Pain Catastrophizing Scale) — pre/post</a:t>
            </a:r>
            <a:endParaRPr lang="en-US" sz="1400" dirty="0"/>
          </a:p>
        </p:txBody>
      </p:sp>
      <p:sp>
        <p:nvSpPr>
          <p:cNvPr id="15" name="Text 13"/>
          <p:cNvSpPr/>
          <p:nvPr/>
        </p:nvSpPr>
        <p:spPr>
          <a:xfrm>
            <a:off x="566928" y="3218688"/>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Secondary:</a:t>
            </a:r>
            <a:endParaRPr lang="en-US" sz="1200" dirty="0"/>
          </a:p>
        </p:txBody>
      </p:sp>
      <p:sp>
        <p:nvSpPr>
          <p:cNvPr id="16" name="Text 14"/>
          <p:cNvSpPr/>
          <p:nvPr/>
        </p:nvSpPr>
        <p:spPr>
          <a:xfrm>
            <a:off x="1371600" y="3218688"/>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Exercise adherence rate (%) per week</a:t>
            </a:r>
            <a:endParaRPr lang="en-US" sz="1400" dirty="0"/>
          </a:p>
        </p:txBody>
      </p:sp>
      <p:sp>
        <p:nvSpPr>
          <p:cNvPr id="17" name="Text 15"/>
          <p:cNvSpPr/>
          <p:nvPr/>
        </p:nvSpPr>
        <p:spPr>
          <a:xfrm>
            <a:off x="566928" y="3666744"/>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Qualitative:</a:t>
            </a:r>
            <a:endParaRPr lang="en-US" sz="1200" dirty="0"/>
          </a:p>
        </p:txBody>
      </p:sp>
      <p:sp>
        <p:nvSpPr>
          <p:cNvPr id="18" name="Text 16"/>
          <p:cNvSpPr/>
          <p:nvPr/>
        </p:nvSpPr>
        <p:spPr>
          <a:xfrm>
            <a:off x="1371600" y="3666744"/>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Patient-reported experience (semi-structured interview)</a:t>
            </a:r>
            <a:endParaRPr lang="en-US" sz="1400" dirty="0"/>
          </a:p>
        </p:txBody>
      </p:sp>
      <p:sp>
        <p:nvSpPr>
          <p:cNvPr id="19" name="Text 17"/>
          <p:cNvSpPr/>
          <p:nvPr/>
        </p:nvSpPr>
        <p:spPr>
          <a:xfrm>
            <a:off x="566928" y="4114800"/>
            <a:ext cx="804672" cy="329184"/>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Safety:</a:t>
            </a:r>
            <a:endParaRPr lang="en-US" sz="1200" dirty="0"/>
          </a:p>
        </p:txBody>
      </p:sp>
      <p:sp>
        <p:nvSpPr>
          <p:cNvPr id="20" name="Text 18"/>
          <p:cNvSpPr/>
          <p:nvPr/>
        </p:nvSpPr>
        <p:spPr>
          <a:xfrm>
            <a:off x="1371600" y="4114800"/>
            <a:ext cx="3474720" cy="384048"/>
          </a:xfrm>
          <a:prstGeom prst="rect">
            <a:avLst/>
          </a:prstGeom>
          <a:noFill/>
          <a:ln/>
        </p:spPr>
        <p:txBody>
          <a:bodyPr wrap="square" lIns="0" tIns="0" rIns="0" bIns="0" rtlCol="0" anchor="ctr"/>
          <a:lstStyle/>
          <a:p>
            <a:pPr marL="0" indent="0">
              <a:buNone/>
            </a:pPr>
            <a:r>
              <a:rPr lang="en-US" sz="1400" dirty="0">
                <a:solidFill>
                  <a:srgbClr val="4A6572"/>
                </a:solidFill>
                <a:latin typeface="Calibri" pitchFamily="34" charset="0"/>
                <a:ea typeface="Calibri" pitchFamily="34" charset="-122"/>
                <a:cs typeface="Calibri" pitchFamily="34" charset="-120"/>
              </a:rPr>
              <a:t>Adverse event monitoring — escalations logged and reviewed</a:t>
            </a:r>
            <a:endParaRPr lang="en-US" sz="1400" dirty="0"/>
          </a:p>
        </p:txBody>
      </p:sp>
      <p:sp>
        <p:nvSpPr>
          <p:cNvPr id="21" name="Shape 19"/>
          <p:cNvSpPr/>
          <p:nvPr/>
        </p:nvSpPr>
        <p:spPr>
          <a:xfrm>
            <a:off x="5138928" y="868680"/>
            <a:ext cx="3657600" cy="3931920"/>
          </a:xfrm>
          <a:prstGeom prst="rect">
            <a:avLst/>
          </a:prstGeom>
          <a:solidFill>
            <a:srgbClr val="FFFFFF"/>
          </a:solidFill>
          <a:ln w="12700">
            <a:solidFill>
              <a:srgbClr val="E8F0F3"/>
            </a:solidFill>
            <a:prstDash val="solid"/>
          </a:ln>
          <a:effectLst>
            <a:outerShdw blurRad="101600" dist="38100" dir="8100000" algn="bl" rotWithShape="0">
              <a:srgbClr val="000000">
                <a:alpha val="10000"/>
              </a:srgbClr>
            </a:outerShdw>
          </a:effectLst>
        </p:spPr>
        <p:txBody>
          <a:bodyPr/>
          <a:lstStyle/>
          <a:p>
            <a:endParaRPr lang="en-US" sz="2800"/>
          </a:p>
        </p:txBody>
      </p:sp>
      <p:sp>
        <p:nvSpPr>
          <p:cNvPr id="22" name="Shape 20"/>
          <p:cNvSpPr/>
          <p:nvPr/>
        </p:nvSpPr>
        <p:spPr>
          <a:xfrm>
            <a:off x="5138928" y="868680"/>
            <a:ext cx="64008" cy="3931920"/>
          </a:xfrm>
          <a:prstGeom prst="rect">
            <a:avLst/>
          </a:prstGeom>
          <a:solidFill>
            <a:srgbClr val="00B4A0"/>
          </a:solidFill>
          <a:ln w="12700">
            <a:solidFill>
              <a:srgbClr val="00B4A0"/>
            </a:solidFill>
            <a:prstDash val="solid"/>
          </a:ln>
        </p:spPr>
        <p:txBody>
          <a:bodyPr/>
          <a:lstStyle/>
          <a:p>
            <a:endParaRPr lang="en-US" sz="2800"/>
          </a:p>
        </p:txBody>
      </p:sp>
      <p:sp>
        <p:nvSpPr>
          <p:cNvPr id="23" name="Text 21"/>
          <p:cNvSpPr/>
          <p:nvPr/>
        </p:nvSpPr>
        <p:spPr>
          <a:xfrm>
            <a:off x="5349240" y="987552"/>
            <a:ext cx="3291840" cy="347472"/>
          </a:xfrm>
          <a:prstGeom prst="rect">
            <a:avLst/>
          </a:prstGeom>
          <a:noFill/>
          <a:ln/>
        </p:spPr>
        <p:txBody>
          <a:bodyPr wrap="square" lIns="0" tIns="0" rIns="0" bIns="0" rtlCol="0" anchor="ctr"/>
          <a:lstStyle/>
          <a:p>
            <a:pPr marL="0" indent="0">
              <a:buNone/>
            </a:pPr>
            <a:r>
              <a:rPr lang="en-US" sz="2000" b="1" dirty="0">
                <a:solidFill>
                  <a:srgbClr val="1A2E35"/>
                </a:solidFill>
                <a:latin typeface="Trebuchet MS" pitchFamily="34" charset="0"/>
                <a:ea typeface="Trebuchet MS" pitchFamily="34" charset="-122"/>
                <a:cs typeface="Trebuchet MS" pitchFamily="34" charset="-120"/>
              </a:rPr>
              <a:t>Pilot Timeline</a:t>
            </a:r>
            <a:endParaRPr lang="en-US" sz="2000" dirty="0"/>
          </a:p>
        </p:txBody>
      </p:sp>
      <p:sp>
        <p:nvSpPr>
          <p:cNvPr id="24" name="Shape 22"/>
          <p:cNvSpPr/>
          <p:nvPr/>
        </p:nvSpPr>
        <p:spPr>
          <a:xfrm>
            <a:off x="5349240" y="1527048"/>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25" name="Shape 23"/>
          <p:cNvSpPr/>
          <p:nvPr/>
        </p:nvSpPr>
        <p:spPr>
          <a:xfrm>
            <a:off x="5406847" y="1655064"/>
            <a:ext cx="18288" cy="402336"/>
          </a:xfrm>
          <a:prstGeom prst="rect">
            <a:avLst/>
          </a:prstGeom>
          <a:solidFill>
            <a:srgbClr val="00B4A0">
              <a:alpha val="50000"/>
            </a:srgbClr>
          </a:solidFill>
          <a:ln w="12700">
            <a:solidFill>
              <a:srgbClr val="00B4A0"/>
            </a:solidFill>
            <a:prstDash val="solid"/>
          </a:ln>
        </p:spPr>
        <p:txBody>
          <a:bodyPr/>
          <a:lstStyle/>
          <a:p>
            <a:endParaRPr lang="en-US" sz="2800"/>
          </a:p>
        </p:txBody>
      </p:sp>
      <p:sp>
        <p:nvSpPr>
          <p:cNvPr id="26" name="Text 24"/>
          <p:cNvSpPr/>
          <p:nvPr/>
        </p:nvSpPr>
        <p:spPr>
          <a:xfrm>
            <a:off x="5577840" y="1444752"/>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Weeks 1–2</a:t>
            </a:r>
            <a:endParaRPr lang="en-US" sz="1200" dirty="0"/>
          </a:p>
        </p:txBody>
      </p:sp>
      <p:sp>
        <p:nvSpPr>
          <p:cNvPr id="27" name="Text 25"/>
          <p:cNvSpPr/>
          <p:nvPr/>
        </p:nvSpPr>
        <p:spPr>
          <a:xfrm>
            <a:off x="5577840" y="1700784"/>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IRB submission &amp; consent flow development</a:t>
            </a:r>
            <a:endParaRPr lang="en-US" sz="1100" dirty="0"/>
          </a:p>
        </p:txBody>
      </p:sp>
      <p:sp>
        <p:nvSpPr>
          <p:cNvPr id="28" name="Shape 26"/>
          <p:cNvSpPr/>
          <p:nvPr/>
        </p:nvSpPr>
        <p:spPr>
          <a:xfrm>
            <a:off x="5349240" y="2057400"/>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29" name="Shape 27"/>
          <p:cNvSpPr/>
          <p:nvPr/>
        </p:nvSpPr>
        <p:spPr>
          <a:xfrm>
            <a:off x="5406847" y="2185416"/>
            <a:ext cx="18288" cy="402336"/>
          </a:xfrm>
          <a:prstGeom prst="rect">
            <a:avLst/>
          </a:prstGeom>
          <a:solidFill>
            <a:srgbClr val="00B4A0">
              <a:alpha val="50000"/>
            </a:srgbClr>
          </a:solidFill>
          <a:ln w="12700">
            <a:solidFill>
              <a:srgbClr val="00B4A0"/>
            </a:solidFill>
            <a:prstDash val="solid"/>
          </a:ln>
        </p:spPr>
        <p:txBody>
          <a:bodyPr/>
          <a:lstStyle/>
          <a:p>
            <a:endParaRPr lang="en-US" sz="2800"/>
          </a:p>
        </p:txBody>
      </p:sp>
      <p:sp>
        <p:nvSpPr>
          <p:cNvPr id="30" name="Text 28"/>
          <p:cNvSpPr/>
          <p:nvPr/>
        </p:nvSpPr>
        <p:spPr>
          <a:xfrm>
            <a:off x="5577840" y="1975104"/>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 3</a:t>
            </a:r>
            <a:endParaRPr lang="en-US" sz="1200" dirty="0"/>
          </a:p>
        </p:txBody>
      </p:sp>
      <p:sp>
        <p:nvSpPr>
          <p:cNvPr id="31" name="Text 29"/>
          <p:cNvSpPr/>
          <p:nvPr/>
        </p:nvSpPr>
        <p:spPr>
          <a:xfrm>
            <a:off x="5577840" y="2231136"/>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Participant recruitment (chronic pain patients, 18+)</a:t>
            </a:r>
            <a:endParaRPr lang="en-US" sz="1100" dirty="0"/>
          </a:p>
        </p:txBody>
      </p:sp>
      <p:sp>
        <p:nvSpPr>
          <p:cNvPr id="32" name="Shape 30"/>
          <p:cNvSpPr/>
          <p:nvPr/>
        </p:nvSpPr>
        <p:spPr>
          <a:xfrm>
            <a:off x="5349240" y="2587752"/>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33" name="Shape 31"/>
          <p:cNvSpPr/>
          <p:nvPr/>
        </p:nvSpPr>
        <p:spPr>
          <a:xfrm>
            <a:off x="5406847" y="2715768"/>
            <a:ext cx="18288" cy="402336"/>
          </a:xfrm>
          <a:prstGeom prst="rect">
            <a:avLst/>
          </a:prstGeom>
          <a:solidFill>
            <a:srgbClr val="00B4A0">
              <a:alpha val="50000"/>
            </a:srgbClr>
          </a:solidFill>
          <a:ln w="12700">
            <a:solidFill>
              <a:srgbClr val="00B4A0"/>
            </a:solidFill>
            <a:prstDash val="solid"/>
          </a:ln>
        </p:spPr>
        <p:txBody>
          <a:bodyPr/>
          <a:lstStyle/>
          <a:p>
            <a:endParaRPr lang="en-US" sz="2800"/>
          </a:p>
        </p:txBody>
      </p:sp>
      <p:sp>
        <p:nvSpPr>
          <p:cNvPr id="34" name="Text 32"/>
          <p:cNvSpPr/>
          <p:nvPr/>
        </p:nvSpPr>
        <p:spPr>
          <a:xfrm>
            <a:off x="5577840" y="2505456"/>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Weeks 4–5</a:t>
            </a:r>
            <a:endParaRPr lang="en-US" sz="1200" dirty="0"/>
          </a:p>
        </p:txBody>
      </p:sp>
      <p:sp>
        <p:nvSpPr>
          <p:cNvPr id="35" name="Text 33"/>
          <p:cNvSpPr/>
          <p:nvPr/>
        </p:nvSpPr>
        <p:spPr>
          <a:xfrm>
            <a:off x="5577840" y="2761488"/>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Onboarding, baseline BPI &amp; PCS-4 assessments</a:t>
            </a:r>
            <a:endParaRPr lang="en-US" sz="1100" dirty="0"/>
          </a:p>
        </p:txBody>
      </p:sp>
      <p:sp>
        <p:nvSpPr>
          <p:cNvPr id="36" name="Shape 34"/>
          <p:cNvSpPr/>
          <p:nvPr/>
        </p:nvSpPr>
        <p:spPr>
          <a:xfrm>
            <a:off x="5349240" y="3118104"/>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37" name="Shape 35"/>
          <p:cNvSpPr/>
          <p:nvPr/>
        </p:nvSpPr>
        <p:spPr>
          <a:xfrm>
            <a:off x="5406847" y="3246120"/>
            <a:ext cx="18288" cy="402336"/>
          </a:xfrm>
          <a:prstGeom prst="rect">
            <a:avLst/>
          </a:prstGeom>
          <a:solidFill>
            <a:srgbClr val="00B4A0">
              <a:alpha val="50000"/>
            </a:srgbClr>
          </a:solidFill>
          <a:ln w="12700">
            <a:solidFill>
              <a:srgbClr val="00B4A0"/>
            </a:solidFill>
            <a:prstDash val="solid"/>
          </a:ln>
        </p:spPr>
        <p:txBody>
          <a:bodyPr/>
          <a:lstStyle/>
          <a:p>
            <a:endParaRPr lang="en-US" sz="2800"/>
          </a:p>
        </p:txBody>
      </p:sp>
      <p:sp>
        <p:nvSpPr>
          <p:cNvPr id="38" name="Text 36"/>
          <p:cNvSpPr/>
          <p:nvPr/>
        </p:nvSpPr>
        <p:spPr>
          <a:xfrm>
            <a:off x="5577840" y="3035808"/>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Weeks 6–9</a:t>
            </a:r>
            <a:endParaRPr lang="en-US" sz="1200" dirty="0"/>
          </a:p>
        </p:txBody>
      </p:sp>
      <p:sp>
        <p:nvSpPr>
          <p:cNvPr id="39" name="Text 37"/>
          <p:cNvSpPr/>
          <p:nvPr/>
        </p:nvSpPr>
        <p:spPr>
          <a:xfrm>
            <a:off x="5577840" y="3291840"/>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4-week active pilot — daily app use + weekly check-in</a:t>
            </a:r>
            <a:endParaRPr lang="en-US" sz="1100" dirty="0"/>
          </a:p>
        </p:txBody>
      </p:sp>
      <p:sp>
        <p:nvSpPr>
          <p:cNvPr id="40" name="Shape 38"/>
          <p:cNvSpPr/>
          <p:nvPr/>
        </p:nvSpPr>
        <p:spPr>
          <a:xfrm>
            <a:off x="5349240" y="3648456"/>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41" name="Shape 39"/>
          <p:cNvSpPr/>
          <p:nvPr/>
        </p:nvSpPr>
        <p:spPr>
          <a:xfrm>
            <a:off x="5406847" y="3776472"/>
            <a:ext cx="18288" cy="402336"/>
          </a:xfrm>
          <a:prstGeom prst="rect">
            <a:avLst/>
          </a:prstGeom>
          <a:solidFill>
            <a:srgbClr val="00B4A0">
              <a:alpha val="50000"/>
            </a:srgbClr>
          </a:solidFill>
          <a:ln w="12700">
            <a:solidFill>
              <a:srgbClr val="00B4A0"/>
            </a:solidFill>
            <a:prstDash val="solid"/>
          </a:ln>
        </p:spPr>
        <p:txBody>
          <a:bodyPr/>
          <a:lstStyle/>
          <a:p>
            <a:endParaRPr lang="en-US" sz="2800"/>
          </a:p>
        </p:txBody>
      </p:sp>
      <p:sp>
        <p:nvSpPr>
          <p:cNvPr id="42" name="Text 40"/>
          <p:cNvSpPr/>
          <p:nvPr/>
        </p:nvSpPr>
        <p:spPr>
          <a:xfrm>
            <a:off x="5577840" y="3566160"/>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 10</a:t>
            </a:r>
            <a:endParaRPr lang="en-US" sz="1200" dirty="0"/>
          </a:p>
        </p:txBody>
      </p:sp>
      <p:sp>
        <p:nvSpPr>
          <p:cNvPr id="43" name="Text 41"/>
          <p:cNvSpPr/>
          <p:nvPr/>
        </p:nvSpPr>
        <p:spPr>
          <a:xfrm>
            <a:off x="5577840" y="3822192"/>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Post-intervention assessments + qualitative interviews</a:t>
            </a:r>
            <a:endParaRPr lang="en-US" sz="1100" dirty="0"/>
          </a:p>
        </p:txBody>
      </p:sp>
      <p:sp>
        <p:nvSpPr>
          <p:cNvPr id="44" name="Shape 42"/>
          <p:cNvSpPr/>
          <p:nvPr/>
        </p:nvSpPr>
        <p:spPr>
          <a:xfrm>
            <a:off x="5349240" y="4178808"/>
            <a:ext cx="128016" cy="128016"/>
          </a:xfrm>
          <a:prstGeom prst="ellipse">
            <a:avLst/>
          </a:prstGeom>
          <a:solidFill>
            <a:srgbClr val="00B4A0"/>
          </a:solidFill>
          <a:ln w="12700">
            <a:solidFill>
              <a:srgbClr val="00B4A0"/>
            </a:solidFill>
            <a:prstDash val="solid"/>
          </a:ln>
        </p:spPr>
        <p:txBody>
          <a:bodyPr/>
          <a:lstStyle/>
          <a:p>
            <a:endParaRPr lang="en-US" sz="2800"/>
          </a:p>
        </p:txBody>
      </p:sp>
      <p:sp>
        <p:nvSpPr>
          <p:cNvPr id="45" name="Text 43"/>
          <p:cNvSpPr/>
          <p:nvPr/>
        </p:nvSpPr>
        <p:spPr>
          <a:xfrm>
            <a:off x="5577840" y="4096512"/>
            <a:ext cx="1234440" cy="292608"/>
          </a:xfrm>
          <a:prstGeom prst="rect">
            <a:avLst/>
          </a:prstGeom>
          <a:noFill/>
          <a:ln/>
        </p:spPr>
        <p:txBody>
          <a:bodyPr wrap="square" lIns="0" tIns="0" rIns="0" bIns="0"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Week 11</a:t>
            </a:r>
            <a:endParaRPr lang="en-US" sz="1200" dirty="0"/>
          </a:p>
        </p:txBody>
      </p:sp>
      <p:sp>
        <p:nvSpPr>
          <p:cNvPr id="46" name="Text 44"/>
          <p:cNvSpPr/>
          <p:nvPr/>
        </p:nvSpPr>
        <p:spPr>
          <a:xfrm>
            <a:off x="5577840" y="4352544"/>
            <a:ext cx="3017520" cy="256032"/>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Data analysis, safety review, pilot report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1A2E35"/>
                </a:solidFill>
                <a:latin typeface="Trebuchet MS" pitchFamily="34" charset="0"/>
                <a:ea typeface="Trebuchet MS" pitchFamily="34" charset="-122"/>
                <a:cs typeface="Trebuchet MS" pitchFamily="34" charset="-120"/>
              </a:rPr>
              <a:t>  If You Approve: What Comes Next</a:t>
            </a:r>
            <a:endParaRPr lang="en-US" sz="2600" dirty="0"/>
          </a:p>
        </p:txBody>
      </p:sp>
      <p:sp>
        <p:nvSpPr>
          <p:cNvPr id="3" name="Shape 1"/>
          <p:cNvSpPr/>
          <p:nvPr/>
        </p:nvSpPr>
        <p:spPr>
          <a:xfrm>
            <a:off x="457200" y="292608"/>
            <a:ext cx="73152" cy="73152"/>
          </a:xfrm>
          <a:prstGeom prst="ellipse">
            <a:avLst/>
          </a:prstGeom>
          <a:solidFill>
            <a:srgbClr val="00B4A0"/>
          </a:solidFill>
          <a:ln w="12700">
            <a:solidFill>
              <a:srgbClr val="00B4A0"/>
            </a:solidFill>
            <a:prstDash val="solid"/>
          </a:ln>
        </p:spPr>
        <p:txBody>
          <a:bodyPr/>
          <a:lstStyle/>
          <a:p>
            <a:endParaRPr lang="en-US" sz="2800"/>
          </a:p>
        </p:txBody>
      </p:sp>
      <p:sp>
        <p:nvSpPr>
          <p:cNvPr id="4" name="Shape 2"/>
          <p:cNvSpPr/>
          <p:nvPr/>
        </p:nvSpPr>
        <p:spPr>
          <a:xfrm>
            <a:off x="347472" y="841248"/>
            <a:ext cx="1600200" cy="3931920"/>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sz="2800"/>
          </a:p>
        </p:txBody>
      </p:sp>
      <p:sp>
        <p:nvSpPr>
          <p:cNvPr id="5" name="Shape 3"/>
          <p:cNvSpPr/>
          <p:nvPr/>
        </p:nvSpPr>
        <p:spPr>
          <a:xfrm>
            <a:off x="347472" y="841248"/>
            <a:ext cx="1600200" cy="502920"/>
          </a:xfrm>
          <a:prstGeom prst="rect">
            <a:avLst/>
          </a:prstGeom>
          <a:solidFill>
            <a:srgbClr val="0D7A8A"/>
          </a:solidFill>
          <a:ln w="12700">
            <a:solidFill>
              <a:srgbClr val="0D7A8A"/>
            </a:solidFill>
            <a:prstDash val="solid"/>
          </a:ln>
        </p:spPr>
        <p:txBody>
          <a:bodyPr/>
          <a:lstStyle/>
          <a:p>
            <a:endParaRPr lang="en-US" sz="2800"/>
          </a:p>
        </p:txBody>
      </p:sp>
      <p:sp>
        <p:nvSpPr>
          <p:cNvPr id="6" name="Text 4"/>
          <p:cNvSpPr/>
          <p:nvPr/>
        </p:nvSpPr>
        <p:spPr>
          <a:xfrm>
            <a:off x="457200" y="859536"/>
            <a:ext cx="365760" cy="438912"/>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1</a:t>
            </a:r>
            <a:endParaRPr lang="en-US" sz="3200" dirty="0"/>
          </a:p>
        </p:txBody>
      </p:sp>
      <p:sp>
        <p:nvSpPr>
          <p:cNvPr id="7" name="Shape 5"/>
          <p:cNvSpPr/>
          <p:nvPr/>
        </p:nvSpPr>
        <p:spPr>
          <a:xfrm>
            <a:off x="804672" y="1463040"/>
            <a:ext cx="658368" cy="658368"/>
          </a:xfrm>
          <a:prstGeom prst="ellipse">
            <a:avLst/>
          </a:prstGeom>
          <a:solidFill>
            <a:srgbClr val="E0F5F3"/>
          </a:solidFill>
          <a:ln w="12700">
            <a:solidFill>
              <a:srgbClr val="E0F5F3"/>
            </a:solidFill>
            <a:prstDash val="solid"/>
          </a:ln>
        </p:spPr>
        <p:txBody>
          <a:bodyPr/>
          <a:lstStyle/>
          <a:p>
            <a:endParaRPr lang="en-US" sz="2800"/>
          </a:p>
        </p:txBody>
      </p:sp>
      <p:pic>
        <p:nvPicPr>
          <p:cNvPr id="8" name="Image 0" descr="preencoded.png"/>
          <p:cNvPicPr>
            <a:picLocks noChangeAspect="1"/>
          </p:cNvPicPr>
          <p:nvPr/>
        </p:nvPicPr>
        <p:blipFill>
          <a:blip r:embed="rId3"/>
          <a:stretch>
            <a:fillRect/>
          </a:stretch>
        </p:blipFill>
        <p:spPr>
          <a:xfrm>
            <a:off x="868680" y="1527048"/>
            <a:ext cx="530352" cy="530352"/>
          </a:xfrm>
          <a:prstGeom prst="rect">
            <a:avLst/>
          </a:prstGeom>
        </p:spPr>
      </p:pic>
      <p:sp>
        <p:nvSpPr>
          <p:cNvPr id="9" name="Text 6"/>
          <p:cNvSpPr/>
          <p:nvPr/>
        </p:nvSpPr>
        <p:spPr>
          <a:xfrm>
            <a:off x="438912" y="2231136"/>
            <a:ext cx="1417320" cy="502920"/>
          </a:xfrm>
          <a:prstGeom prst="rect">
            <a:avLst/>
          </a:prstGeom>
          <a:noFill/>
          <a:ln/>
        </p:spPr>
        <p:txBody>
          <a:bodyPr wrap="square" lIns="0" tIns="0" rIns="0" bIns="0" rtlCol="0" anchor="ctr"/>
          <a:lstStyle/>
          <a:p>
            <a:pPr marL="0" indent="0" algn="ctr">
              <a:buNone/>
            </a:pPr>
            <a:r>
              <a:rPr lang="en-US" sz="1600" b="1" dirty="0">
                <a:solidFill>
                  <a:srgbClr val="1A2E35"/>
                </a:solidFill>
                <a:latin typeface="Trebuchet MS" pitchFamily="34" charset="0"/>
                <a:ea typeface="Trebuchet MS" pitchFamily="34" charset="-122"/>
                <a:cs typeface="Trebuchet MS" pitchFamily="34" charset="-120"/>
              </a:rPr>
              <a:t>IRB &amp; Consent</a:t>
            </a:r>
            <a:endParaRPr lang="en-US" sz="1600" dirty="0"/>
          </a:p>
        </p:txBody>
      </p:sp>
      <p:sp>
        <p:nvSpPr>
          <p:cNvPr id="10" name="Text 7"/>
          <p:cNvSpPr/>
          <p:nvPr/>
        </p:nvSpPr>
        <p:spPr>
          <a:xfrm>
            <a:off x="438912" y="2798064"/>
            <a:ext cx="1417320" cy="1828800"/>
          </a:xfrm>
          <a:prstGeom prst="rect">
            <a:avLst/>
          </a:prstGeom>
          <a:noFill/>
          <a:ln/>
        </p:spPr>
        <p:txBody>
          <a:bodyPr wrap="square" lIns="0" tIns="0" rIns="0" bIns="0"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Submit IRB protocol, build informed consent flow into the app, finalize participant screening criteria.</a:t>
            </a:r>
            <a:endParaRPr lang="en-US" sz="1400" dirty="0"/>
          </a:p>
        </p:txBody>
      </p:sp>
      <p:sp>
        <p:nvSpPr>
          <p:cNvPr id="11" name="Shape 8"/>
          <p:cNvSpPr/>
          <p:nvPr/>
        </p:nvSpPr>
        <p:spPr>
          <a:xfrm>
            <a:off x="2084832" y="841248"/>
            <a:ext cx="1600200" cy="3931920"/>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sz="2800"/>
          </a:p>
        </p:txBody>
      </p:sp>
      <p:sp>
        <p:nvSpPr>
          <p:cNvPr id="12" name="Shape 9"/>
          <p:cNvSpPr/>
          <p:nvPr/>
        </p:nvSpPr>
        <p:spPr>
          <a:xfrm>
            <a:off x="2084832" y="841248"/>
            <a:ext cx="1600200" cy="502920"/>
          </a:xfrm>
          <a:prstGeom prst="rect">
            <a:avLst/>
          </a:prstGeom>
          <a:solidFill>
            <a:srgbClr val="0D7A8A"/>
          </a:solidFill>
          <a:ln w="12700">
            <a:solidFill>
              <a:srgbClr val="0D7A8A"/>
            </a:solidFill>
            <a:prstDash val="solid"/>
          </a:ln>
        </p:spPr>
        <p:txBody>
          <a:bodyPr/>
          <a:lstStyle/>
          <a:p>
            <a:endParaRPr lang="en-US" sz="2800"/>
          </a:p>
        </p:txBody>
      </p:sp>
      <p:sp>
        <p:nvSpPr>
          <p:cNvPr id="13" name="Text 10"/>
          <p:cNvSpPr/>
          <p:nvPr/>
        </p:nvSpPr>
        <p:spPr>
          <a:xfrm>
            <a:off x="2194560" y="859536"/>
            <a:ext cx="365760" cy="438912"/>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2</a:t>
            </a:r>
            <a:endParaRPr lang="en-US" sz="3200" dirty="0"/>
          </a:p>
        </p:txBody>
      </p:sp>
      <p:sp>
        <p:nvSpPr>
          <p:cNvPr id="14" name="Shape 11"/>
          <p:cNvSpPr/>
          <p:nvPr/>
        </p:nvSpPr>
        <p:spPr>
          <a:xfrm>
            <a:off x="2542032" y="1463040"/>
            <a:ext cx="658368" cy="658368"/>
          </a:xfrm>
          <a:prstGeom prst="ellipse">
            <a:avLst/>
          </a:prstGeom>
          <a:solidFill>
            <a:srgbClr val="E0F5F3"/>
          </a:solidFill>
          <a:ln w="12700">
            <a:solidFill>
              <a:srgbClr val="E0F5F3"/>
            </a:solidFill>
            <a:prstDash val="solid"/>
          </a:ln>
        </p:spPr>
        <p:txBody>
          <a:bodyPr/>
          <a:lstStyle/>
          <a:p>
            <a:endParaRPr lang="en-US" sz="2800"/>
          </a:p>
        </p:txBody>
      </p:sp>
      <p:pic>
        <p:nvPicPr>
          <p:cNvPr id="15" name="Image 1" descr="preencoded.png"/>
          <p:cNvPicPr>
            <a:picLocks noChangeAspect="1"/>
          </p:cNvPicPr>
          <p:nvPr/>
        </p:nvPicPr>
        <p:blipFill>
          <a:blip r:embed="rId4"/>
          <a:stretch>
            <a:fillRect/>
          </a:stretch>
        </p:blipFill>
        <p:spPr>
          <a:xfrm>
            <a:off x="2606040" y="1527048"/>
            <a:ext cx="530352" cy="530352"/>
          </a:xfrm>
          <a:prstGeom prst="rect">
            <a:avLst/>
          </a:prstGeom>
        </p:spPr>
      </p:pic>
      <p:sp>
        <p:nvSpPr>
          <p:cNvPr id="16" name="Text 12"/>
          <p:cNvSpPr/>
          <p:nvPr/>
        </p:nvSpPr>
        <p:spPr>
          <a:xfrm>
            <a:off x="2176272" y="2231136"/>
            <a:ext cx="1417320" cy="502920"/>
          </a:xfrm>
          <a:prstGeom prst="rect">
            <a:avLst/>
          </a:prstGeom>
          <a:noFill/>
          <a:ln/>
        </p:spPr>
        <p:txBody>
          <a:bodyPr wrap="square" lIns="0" tIns="0" rIns="0" bIns="0" rtlCol="0" anchor="ctr"/>
          <a:lstStyle/>
          <a:p>
            <a:pPr marL="0" indent="0" algn="ctr">
              <a:buNone/>
            </a:pPr>
            <a:r>
              <a:rPr lang="en-US" sz="1400" b="1" dirty="0">
                <a:solidFill>
                  <a:srgbClr val="1A2E35"/>
                </a:solidFill>
                <a:latin typeface="Trebuchet MS" pitchFamily="34" charset="0"/>
                <a:ea typeface="Trebuchet MS" pitchFamily="34" charset="-122"/>
                <a:cs typeface="Trebuchet MS" pitchFamily="34" charset="-120"/>
              </a:rPr>
              <a:t>Authentication</a:t>
            </a:r>
            <a:endParaRPr lang="en-US" sz="1400" dirty="0"/>
          </a:p>
        </p:txBody>
      </p:sp>
      <p:sp>
        <p:nvSpPr>
          <p:cNvPr id="17" name="Text 13"/>
          <p:cNvSpPr/>
          <p:nvPr/>
        </p:nvSpPr>
        <p:spPr>
          <a:xfrm>
            <a:off x="2176272" y="2798064"/>
            <a:ext cx="1417320" cy="1828800"/>
          </a:xfrm>
          <a:prstGeom prst="rect">
            <a:avLst/>
          </a:prstGeom>
          <a:noFill/>
          <a:ln/>
        </p:spPr>
        <p:txBody>
          <a:bodyPr wrap="square" lIns="0" tIns="0" rIns="0" bIns="0"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User accounts so each patient's data is separate and secure. NextAuth v5 is already in the tech stack.</a:t>
            </a:r>
            <a:endParaRPr lang="en-US" sz="1400" dirty="0"/>
          </a:p>
        </p:txBody>
      </p:sp>
      <p:sp>
        <p:nvSpPr>
          <p:cNvPr id="18" name="Shape 14"/>
          <p:cNvSpPr/>
          <p:nvPr/>
        </p:nvSpPr>
        <p:spPr>
          <a:xfrm>
            <a:off x="3822192" y="841248"/>
            <a:ext cx="1600200" cy="3931920"/>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sz="2800"/>
          </a:p>
        </p:txBody>
      </p:sp>
      <p:sp>
        <p:nvSpPr>
          <p:cNvPr id="19" name="Shape 15"/>
          <p:cNvSpPr/>
          <p:nvPr/>
        </p:nvSpPr>
        <p:spPr>
          <a:xfrm>
            <a:off x="3822192" y="841248"/>
            <a:ext cx="1600200" cy="502920"/>
          </a:xfrm>
          <a:prstGeom prst="rect">
            <a:avLst/>
          </a:prstGeom>
          <a:solidFill>
            <a:srgbClr val="0D7A8A"/>
          </a:solidFill>
          <a:ln w="12700">
            <a:solidFill>
              <a:srgbClr val="0D7A8A"/>
            </a:solidFill>
            <a:prstDash val="solid"/>
          </a:ln>
        </p:spPr>
        <p:txBody>
          <a:bodyPr/>
          <a:lstStyle/>
          <a:p>
            <a:endParaRPr lang="en-US" sz="2800"/>
          </a:p>
        </p:txBody>
      </p:sp>
      <p:sp>
        <p:nvSpPr>
          <p:cNvPr id="20" name="Text 16"/>
          <p:cNvSpPr/>
          <p:nvPr/>
        </p:nvSpPr>
        <p:spPr>
          <a:xfrm>
            <a:off x="3931920" y="859536"/>
            <a:ext cx="365760" cy="438912"/>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3</a:t>
            </a:r>
            <a:endParaRPr lang="en-US" sz="3200" dirty="0"/>
          </a:p>
        </p:txBody>
      </p:sp>
      <p:sp>
        <p:nvSpPr>
          <p:cNvPr id="21" name="Shape 17"/>
          <p:cNvSpPr/>
          <p:nvPr/>
        </p:nvSpPr>
        <p:spPr>
          <a:xfrm>
            <a:off x="4279392" y="1463040"/>
            <a:ext cx="658368" cy="658368"/>
          </a:xfrm>
          <a:prstGeom prst="ellipse">
            <a:avLst/>
          </a:prstGeom>
          <a:solidFill>
            <a:srgbClr val="E0F5F3"/>
          </a:solidFill>
          <a:ln w="12700">
            <a:solidFill>
              <a:srgbClr val="E0F5F3"/>
            </a:solidFill>
            <a:prstDash val="solid"/>
          </a:ln>
        </p:spPr>
        <p:txBody>
          <a:bodyPr/>
          <a:lstStyle/>
          <a:p>
            <a:endParaRPr lang="en-US" sz="2800"/>
          </a:p>
        </p:txBody>
      </p:sp>
      <p:pic>
        <p:nvPicPr>
          <p:cNvPr id="22" name="Image 2" descr="preencoded.png"/>
          <p:cNvPicPr>
            <a:picLocks noChangeAspect="1"/>
          </p:cNvPicPr>
          <p:nvPr/>
        </p:nvPicPr>
        <p:blipFill>
          <a:blip r:embed="rId5"/>
          <a:stretch>
            <a:fillRect/>
          </a:stretch>
        </p:blipFill>
        <p:spPr>
          <a:xfrm>
            <a:off x="4343400" y="1527048"/>
            <a:ext cx="530352" cy="530352"/>
          </a:xfrm>
          <a:prstGeom prst="rect">
            <a:avLst/>
          </a:prstGeom>
        </p:spPr>
      </p:pic>
      <p:sp>
        <p:nvSpPr>
          <p:cNvPr id="23" name="Text 18"/>
          <p:cNvSpPr/>
          <p:nvPr/>
        </p:nvSpPr>
        <p:spPr>
          <a:xfrm>
            <a:off x="3913632" y="2231136"/>
            <a:ext cx="1417320" cy="502920"/>
          </a:xfrm>
          <a:prstGeom prst="rect">
            <a:avLst/>
          </a:prstGeom>
          <a:noFill/>
          <a:ln/>
        </p:spPr>
        <p:txBody>
          <a:bodyPr wrap="square" lIns="0" tIns="0" rIns="0" bIns="0" rtlCol="0" anchor="ctr"/>
          <a:lstStyle/>
          <a:p>
            <a:pPr marL="0" indent="0" algn="ctr">
              <a:buNone/>
            </a:pPr>
            <a:r>
              <a:rPr lang="en-US" sz="1600" b="1" dirty="0">
                <a:solidFill>
                  <a:srgbClr val="1A2E35"/>
                </a:solidFill>
                <a:latin typeface="Trebuchet MS" pitchFamily="34" charset="0"/>
                <a:ea typeface="Trebuchet MS" pitchFamily="34" charset="-122"/>
                <a:cs typeface="Trebuchet MS" pitchFamily="34" charset="-120"/>
              </a:rPr>
              <a:t>Database Persistence</a:t>
            </a:r>
            <a:endParaRPr lang="en-US" sz="1600" dirty="0"/>
          </a:p>
        </p:txBody>
      </p:sp>
      <p:sp>
        <p:nvSpPr>
          <p:cNvPr id="24" name="Text 19"/>
          <p:cNvSpPr/>
          <p:nvPr/>
        </p:nvSpPr>
        <p:spPr>
          <a:xfrm>
            <a:off x="3913632" y="2798064"/>
            <a:ext cx="1417320" cy="1828800"/>
          </a:xfrm>
          <a:prstGeom prst="rect">
            <a:avLst/>
          </a:prstGeom>
          <a:noFill/>
          <a:ln/>
        </p:spPr>
        <p:txBody>
          <a:bodyPr wrap="square" lIns="0" tIns="0" rIns="0" bIns="0"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Replace localStorage with PostgreSQL. Enables multi-user, multi-session longitudinal data for real outcomes analysis.</a:t>
            </a:r>
            <a:endParaRPr lang="en-US" sz="1400" dirty="0"/>
          </a:p>
        </p:txBody>
      </p:sp>
      <p:sp>
        <p:nvSpPr>
          <p:cNvPr id="25" name="Shape 20"/>
          <p:cNvSpPr/>
          <p:nvPr/>
        </p:nvSpPr>
        <p:spPr>
          <a:xfrm>
            <a:off x="5559552" y="841248"/>
            <a:ext cx="1600200" cy="3931920"/>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sz="2800"/>
          </a:p>
        </p:txBody>
      </p:sp>
      <p:sp>
        <p:nvSpPr>
          <p:cNvPr id="26" name="Shape 21"/>
          <p:cNvSpPr/>
          <p:nvPr/>
        </p:nvSpPr>
        <p:spPr>
          <a:xfrm>
            <a:off x="5559552" y="841248"/>
            <a:ext cx="1600200" cy="502920"/>
          </a:xfrm>
          <a:prstGeom prst="rect">
            <a:avLst/>
          </a:prstGeom>
          <a:solidFill>
            <a:srgbClr val="0D7A8A"/>
          </a:solidFill>
          <a:ln w="12700">
            <a:solidFill>
              <a:srgbClr val="0D7A8A"/>
            </a:solidFill>
            <a:prstDash val="solid"/>
          </a:ln>
        </p:spPr>
        <p:txBody>
          <a:bodyPr/>
          <a:lstStyle/>
          <a:p>
            <a:endParaRPr lang="en-US" sz="2800"/>
          </a:p>
        </p:txBody>
      </p:sp>
      <p:sp>
        <p:nvSpPr>
          <p:cNvPr id="27" name="Text 22"/>
          <p:cNvSpPr/>
          <p:nvPr/>
        </p:nvSpPr>
        <p:spPr>
          <a:xfrm>
            <a:off x="5669280" y="859536"/>
            <a:ext cx="365760" cy="438912"/>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4</a:t>
            </a:r>
            <a:endParaRPr lang="en-US" sz="3200" dirty="0"/>
          </a:p>
        </p:txBody>
      </p:sp>
      <p:sp>
        <p:nvSpPr>
          <p:cNvPr id="28" name="Shape 23"/>
          <p:cNvSpPr/>
          <p:nvPr/>
        </p:nvSpPr>
        <p:spPr>
          <a:xfrm>
            <a:off x="6016752" y="1463040"/>
            <a:ext cx="658368" cy="658368"/>
          </a:xfrm>
          <a:prstGeom prst="ellipse">
            <a:avLst/>
          </a:prstGeom>
          <a:solidFill>
            <a:srgbClr val="E0F5F3"/>
          </a:solidFill>
          <a:ln w="12700">
            <a:solidFill>
              <a:srgbClr val="E0F5F3"/>
            </a:solidFill>
            <a:prstDash val="solid"/>
          </a:ln>
        </p:spPr>
        <p:txBody>
          <a:bodyPr/>
          <a:lstStyle/>
          <a:p>
            <a:endParaRPr lang="en-US" sz="2800"/>
          </a:p>
        </p:txBody>
      </p:sp>
      <p:pic>
        <p:nvPicPr>
          <p:cNvPr id="29" name="Image 3" descr="preencoded.png"/>
          <p:cNvPicPr>
            <a:picLocks noChangeAspect="1"/>
          </p:cNvPicPr>
          <p:nvPr/>
        </p:nvPicPr>
        <p:blipFill>
          <a:blip r:embed="rId6"/>
          <a:stretch>
            <a:fillRect/>
          </a:stretch>
        </p:blipFill>
        <p:spPr>
          <a:xfrm>
            <a:off x="6080760" y="1527048"/>
            <a:ext cx="530352" cy="530352"/>
          </a:xfrm>
          <a:prstGeom prst="rect">
            <a:avLst/>
          </a:prstGeom>
        </p:spPr>
      </p:pic>
      <p:sp>
        <p:nvSpPr>
          <p:cNvPr id="30" name="Text 24"/>
          <p:cNvSpPr/>
          <p:nvPr/>
        </p:nvSpPr>
        <p:spPr>
          <a:xfrm>
            <a:off x="5650992" y="2231136"/>
            <a:ext cx="1417320" cy="502920"/>
          </a:xfrm>
          <a:prstGeom prst="rect">
            <a:avLst/>
          </a:prstGeom>
          <a:noFill/>
          <a:ln/>
        </p:spPr>
        <p:txBody>
          <a:bodyPr wrap="square" lIns="0" tIns="0" rIns="0" bIns="0" rtlCol="0" anchor="ctr"/>
          <a:lstStyle/>
          <a:p>
            <a:pPr marL="0" indent="0" algn="ctr">
              <a:buNone/>
            </a:pPr>
            <a:r>
              <a:rPr lang="en-US" sz="1600" b="1" dirty="0">
                <a:solidFill>
                  <a:srgbClr val="1A2E35"/>
                </a:solidFill>
                <a:latin typeface="Trebuchet MS" pitchFamily="34" charset="0"/>
                <a:ea typeface="Trebuchet MS" pitchFamily="34" charset="-122"/>
                <a:cs typeface="Trebuchet MS" pitchFamily="34" charset="-120"/>
              </a:rPr>
              <a:t>Outcome Measures</a:t>
            </a:r>
            <a:endParaRPr lang="en-US" sz="1600" dirty="0"/>
          </a:p>
        </p:txBody>
      </p:sp>
      <p:sp>
        <p:nvSpPr>
          <p:cNvPr id="31" name="Text 25"/>
          <p:cNvSpPr/>
          <p:nvPr/>
        </p:nvSpPr>
        <p:spPr>
          <a:xfrm>
            <a:off x="5650992" y="2798064"/>
            <a:ext cx="1417320" cy="1828800"/>
          </a:xfrm>
          <a:prstGeom prst="rect">
            <a:avLst/>
          </a:prstGeom>
          <a:noFill/>
          <a:ln/>
        </p:spPr>
        <p:txBody>
          <a:bodyPr wrap="square" lIns="0" tIns="0" rIns="0" bIns="0"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BPI and PCS-4 standardized assessments integrated into the app. Auto-scored and stored per participant.</a:t>
            </a:r>
            <a:endParaRPr lang="en-US" sz="1400" dirty="0"/>
          </a:p>
        </p:txBody>
      </p:sp>
      <p:sp>
        <p:nvSpPr>
          <p:cNvPr id="32" name="Shape 26"/>
          <p:cNvSpPr/>
          <p:nvPr/>
        </p:nvSpPr>
        <p:spPr>
          <a:xfrm>
            <a:off x="7296912" y="841248"/>
            <a:ext cx="1600200" cy="3931920"/>
          </a:xfrm>
          <a:prstGeom prst="rect">
            <a:avLst/>
          </a:prstGeom>
          <a:solidFill>
            <a:srgbClr val="FFFFFF"/>
          </a:solidFill>
          <a:ln w="12700">
            <a:solidFill>
              <a:srgbClr val="DDE8EA"/>
            </a:solidFill>
            <a:prstDash val="solid"/>
          </a:ln>
          <a:effectLst>
            <a:outerShdw blurRad="101600" dist="38100" dir="8100000" algn="bl" rotWithShape="0">
              <a:srgbClr val="000000">
                <a:alpha val="10000"/>
              </a:srgbClr>
            </a:outerShdw>
          </a:effectLst>
        </p:spPr>
        <p:txBody>
          <a:bodyPr/>
          <a:lstStyle/>
          <a:p>
            <a:endParaRPr lang="en-US" sz="2800"/>
          </a:p>
        </p:txBody>
      </p:sp>
      <p:sp>
        <p:nvSpPr>
          <p:cNvPr id="33" name="Shape 27"/>
          <p:cNvSpPr/>
          <p:nvPr/>
        </p:nvSpPr>
        <p:spPr>
          <a:xfrm>
            <a:off x="7296912" y="841248"/>
            <a:ext cx="1600200" cy="502920"/>
          </a:xfrm>
          <a:prstGeom prst="rect">
            <a:avLst/>
          </a:prstGeom>
          <a:solidFill>
            <a:srgbClr val="0D7A8A"/>
          </a:solidFill>
          <a:ln w="12700">
            <a:solidFill>
              <a:srgbClr val="0D7A8A"/>
            </a:solidFill>
            <a:prstDash val="solid"/>
          </a:ln>
        </p:spPr>
        <p:txBody>
          <a:bodyPr/>
          <a:lstStyle/>
          <a:p>
            <a:endParaRPr lang="en-US" sz="2800"/>
          </a:p>
        </p:txBody>
      </p:sp>
      <p:sp>
        <p:nvSpPr>
          <p:cNvPr id="34" name="Text 28"/>
          <p:cNvSpPr/>
          <p:nvPr/>
        </p:nvSpPr>
        <p:spPr>
          <a:xfrm>
            <a:off x="7406640" y="859536"/>
            <a:ext cx="365760" cy="438912"/>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5</a:t>
            </a:r>
            <a:endParaRPr lang="en-US" sz="3200" dirty="0"/>
          </a:p>
        </p:txBody>
      </p:sp>
      <p:sp>
        <p:nvSpPr>
          <p:cNvPr id="35" name="Shape 29"/>
          <p:cNvSpPr/>
          <p:nvPr/>
        </p:nvSpPr>
        <p:spPr>
          <a:xfrm>
            <a:off x="7754112" y="1463040"/>
            <a:ext cx="658368" cy="658368"/>
          </a:xfrm>
          <a:prstGeom prst="ellipse">
            <a:avLst/>
          </a:prstGeom>
          <a:solidFill>
            <a:srgbClr val="E0F5F3"/>
          </a:solidFill>
          <a:ln w="12700">
            <a:solidFill>
              <a:srgbClr val="E0F5F3"/>
            </a:solidFill>
            <a:prstDash val="solid"/>
          </a:ln>
        </p:spPr>
        <p:txBody>
          <a:bodyPr/>
          <a:lstStyle/>
          <a:p>
            <a:endParaRPr lang="en-US" sz="2800"/>
          </a:p>
        </p:txBody>
      </p:sp>
      <p:pic>
        <p:nvPicPr>
          <p:cNvPr id="36" name="Image 4" descr="preencoded.png"/>
          <p:cNvPicPr>
            <a:picLocks noChangeAspect="1"/>
          </p:cNvPicPr>
          <p:nvPr/>
        </p:nvPicPr>
        <p:blipFill>
          <a:blip r:embed="rId7"/>
          <a:stretch>
            <a:fillRect/>
          </a:stretch>
        </p:blipFill>
        <p:spPr>
          <a:xfrm>
            <a:off x="7818120" y="1527048"/>
            <a:ext cx="530352" cy="530352"/>
          </a:xfrm>
          <a:prstGeom prst="rect">
            <a:avLst/>
          </a:prstGeom>
        </p:spPr>
      </p:pic>
      <p:sp>
        <p:nvSpPr>
          <p:cNvPr id="37" name="Text 30"/>
          <p:cNvSpPr/>
          <p:nvPr/>
        </p:nvSpPr>
        <p:spPr>
          <a:xfrm>
            <a:off x="7388352" y="2231136"/>
            <a:ext cx="1417320" cy="502920"/>
          </a:xfrm>
          <a:prstGeom prst="rect">
            <a:avLst/>
          </a:prstGeom>
          <a:noFill/>
          <a:ln/>
        </p:spPr>
        <p:txBody>
          <a:bodyPr wrap="square" lIns="0" tIns="0" rIns="0" bIns="0" rtlCol="0" anchor="ctr"/>
          <a:lstStyle/>
          <a:p>
            <a:pPr marL="0" indent="0" algn="ctr">
              <a:buNone/>
            </a:pPr>
            <a:r>
              <a:rPr lang="en-US" sz="1600" b="1" dirty="0">
                <a:solidFill>
                  <a:srgbClr val="1A2E35"/>
                </a:solidFill>
                <a:latin typeface="Trebuchet MS" pitchFamily="34" charset="0"/>
                <a:ea typeface="Trebuchet MS" pitchFamily="34" charset="-122"/>
                <a:cs typeface="Trebuchet MS" pitchFamily="34" charset="-120"/>
              </a:rPr>
              <a:t>Researcher Portal</a:t>
            </a:r>
            <a:endParaRPr lang="en-US" sz="1600" dirty="0"/>
          </a:p>
        </p:txBody>
      </p:sp>
      <p:sp>
        <p:nvSpPr>
          <p:cNvPr id="38" name="Text 31"/>
          <p:cNvSpPr/>
          <p:nvPr/>
        </p:nvSpPr>
        <p:spPr>
          <a:xfrm>
            <a:off x="7388352" y="2798064"/>
            <a:ext cx="1417320" cy="1828800"/>
          </a:xfrm>
          <a:prstGeom prst="rect">
            <a:avLst/>
          </a:prstGeom>
          <a:noFill/>
          <a:ln/>
        </p:spPr>
        <p:txBody>
          <a:bodyPr wrap="square" lIns="0" tIns="0" rIns="0" bIns="0" rtlCol="0" anchor="ctr"/>
          <a:lstStyle/>
          <a:p>
            <a:pPr marL="0" indent="0" algn="l">
              <a:buNone/>
            </a:pPr>
            <a:r>
              <a:rPr lang="en-US" sz="1400" dirty="0">
                <a:solidFill>
                  <a:srgbClr val="4A6572"/>
                </a:solidFill>
                <a:latin typeface="Calibri" pitchFamily="34" charset="0"/>
                <a:ea typeface="Calibri" pitchFamily="34" charset="-122"/>
                <a:cs typeface="Calibri" pitchFamily="34" charset="-120"/>
              </a:rPr>
              <a:t>Admin dashboard for data export, safety monitoring, session transcripts review, and aggregate trend analysis.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A3A4A"/>
        </a:solidFill>
        <a:effectLst/>
      </p:bgPr>
    </p:bg>
    <p:spTree>
      <p:nvGrpSpPr>
        <p:cNvPr id="1" name=""/>
        <p:cNvGrpSpPr/>
        <p:nvPr/>
      </p:nvGrpSpPr>
      <p:grpSpPr>
        <a:xfrm>
          <a:off x="0" y="0"/>
          <a:ext cx="0" cy="0"/>
          <a:chOff x="0" y="0"/>
          <a:chExt cx="0" cy="0"/>
        </a:xfrm>
      </p:grpSpPr>
      <p:sp>
        <p:nvSpPr>
          <p:cNvPr id="2" name="Shape 0"/>
          <p:cNvSpPr/>
          <p:nvPr/>
        </p:nvSpPr>
        <p:spPr>
          <a:xfrm>
            <a:off x="-731520" y="3200400"/>
            <a:ext cx="3200400" cy="3200400"/>
          </a:xfrm>
          <a:prstGeom prst="ellipse">
            <a:avLst/>
          </a:prstGeom>
          <a:solidFill>
            <a:srgbClr val="0D7A8A">
              <a:alpha val="18000"/>
            </a:srgbClr>
          </a:solidFill>
          <a:ln w="12700">
            <a:solidFill>
              <a:srgbClr val="0D7A8A"/>
            </a:solidFill>
            <a:prstDash val="solid"/>
          </a:ln>
        </p:spPr>
        <p:txBody>
          <a:bodyPr/>
          <a:lstStyle/>
          <a:p>
            <a:endParaRPr lang="en-US"/>
          </a:p>
        </p:txBody>
      </p:sp>
      <p:sp>
        <p:nvSpPr>
          <p:cNvPr id="3" name="Shape 1"/>
          <p:cNvSpPr/>
          <p:nvPr/>
        </p:nvSpPr>
        <p:spPr>
          <a:xfrm>
            <a:off x="7498080" y="-457200"/>
            <a:ext cx="2560320" cy="2560320"/>
          </a:xfrm>
          <a:prstGeom prst="ellipse">
            <a:avLst/>
          </a:prstGeom>
          <a:solidFill>
            <a:srgbClr val="00B4A0">
              <a:alpha val="20000"/>
            </a:srgbClr>
          </a:solidFill>
          <a:ln w="12700">
            <a:solidFill>
              <a:srgbClr val="00B4A0"/>
            </a:solidFill>
            <a:prstDash val="solid"/>
          </a:ln>
        </p:spPr>
        <p:txBody>
          <a:bodyPr/>
          <a:lstStyle/>
          <a:p>
            <a:endParaRPr lang="en-US"/>
          </a:p>
        </p:txBody>
      </p:sp>
      <p:sp>
        <p:nvSpPr>
          <p:cNvPr id="4" name="Shape 2"/>
          <p:cNvSpPr/>
          <p:nvPr/>
        </p:nvSpPr>
        <p:spPr>
          <a:xfrm>
            <a:off x="0" y="0"/>
            <a:ext cx="164592" cy="5143500"/>
          </a:xfrm>
          <a:prstGeom prst="rect">
            <a:avLst/>
          </a:prstGeom>
          <a:solidFill>
            <a:srgbClr val="00B4A0"/>
          </a:solidFill>
          <a:ln w="12700">
            <a:solidFill>
              <a:srgbClr val="00B4A0"/>
            </a:solidFill>
            <a:prstDash val="solid"/>
          </a:ln>
        </p:spPr>
        <p:txBody>
          <a:bodyPr/>
          <a:lstStyle/>
          <a:p>
            <a:endParaRPr lang="en-US"/>
          </a:p>
        </p:txBody>
      </p:sp>
      <p:sp>
        <p:nvSpPr>
          <p:cNvPr id="5" name="Text 3"/>
          <p:cNvSpPr/>
          <p:nvPr/>
        </p:nvSpPr>
        <p:spPr>
          <a:xfrm>
            <a:off x="457200" y="502920"/>
            <a:ext cx="8229600" cy="685800"/>
          </a:xfrm>
          <a:prstGeom prst="rect">
            <a:avLst/>
          </a:prstGeom>
          <a:noFill/>
          <a:ln/>
        </p:spPr>
        <p:txBody>
          <a:bodyPr wrap="square" lIns="0" tIns="0" rIns="0" bIns="0" rtlCol="0" anchor="ctr"/>
          <a:lstStyle/>
          <a:p>
            <a:pPr marL="0" indent="0" algn="l">
              <a:buNone/>
            </a:pPr>
            <a:r>
              <a:rPr lang="en-US" sz="3800" b="1" dirty="0">
                <a:solidFill>
                  <a:srgbClr val="FFFFFF"/>
                </a:solidFill>
                <a:latin typeface="Trebuchet MS" pitchFamily="34" charset="0"/>
                <a:ea typeface="Trebuchet MS" pitchFamily="34" charset="-122"/>
                <a:cs typeface="Trebuchet MS" pitchFamily="34" charset="-120"/>
              </a:rPr>
              <a:t>One Question.</a:t>
            </a:r>
            <a:endParaRPr lang="en-US" sz="3800" dirty="0"/>
          </a:p>
        </p:txBody>
      </p:sp>
      <p:sp>
        <p:nvSpPr>
          <p:cNvPr id="6" name="Shape 4"/>
          <p:cNvSpPr/>
          <p:nvPr/>
        </p:nvSpPr>
        <p:spPr>
          <a:xfrm>
            <a:off x="457200" y="1280160"/>
            <a:ext cx="8229600" cy="987552"/>
          </a:xfrm>
          <a:prstGeom prst="rect">
            <a:avLst/>
          </a:prstGeom>
          <a:solidFill>
            <a:srgbClr val="0D7A8A">
              <a:alpha val="80000"/>
            </a:srgbClr>
          </a:solidFill>
          <a:ln w="19050">
            <a:solidFill>
              <a:srgbClr val="00B4A0"/>
            </a:solidFill>
            <a:prstDash val="solid"/>
          </a:ln>
        </p:spPr>
        <p:txBody>
          <a:bodyPr/>
          <a:lstStyle/>
          <a:p>
            <a:endParaRPr lang="en-US"/>
          </a:p>
        </p:txBody>
      </p:sp>
      <p:sp>
        <p:nvSpPr>
          <p:cNvPr id="7" name="Text 5"/>
          <p:cNvSpPr/>
          <p:nvPr/>
        </p:nvSpPr>
        <p:spPr>
          <a:xfrm>
            <a:off x="566928" y="1316736"/>
            <a:ext cx="8001000" cy="896112"/>
          </a:xfrm>
          <a:prstGeom prst="rect">
            <a:avLst/>
          </a:prstGeom>
          <a:noFill/>
          <a:ln/>
        </p:spPr>
        <p:txBody>
          <a:bodyPr wrap="square" lIns="0" tIns="0" rIns="0" bIns="0" rtlCol="0" anchor="ctr"/>
          <a:lstStyle/>
          <a:p>
            <a:pPr marL="0" indent="0" algn="l">
              <a:buNone/>
            </a:pPr>
            <a:r>
              <a:rPr lang="en-US" sz="2200" b="1" dirty="0">
                <a:solidFill>
                  <a:srgbClr val="FFFFFF"/>
                </a:solidFill>
                <a:latin typeface="Trebuchet MS" pitchFamily="34" charset="0"/>
                <a:ea typeface="Trebuchet MS" pitchFamily="34" charset="-122"/>
                <a:cs typeface="Trebuchet MS" pitchFamily="34" charset="-120"/>
              </a:rPr>
              <a:t>Can we move forward with a 5–10 patient pilot?</a:t>
            </a:r>
            <a:endParaRPr lang="en-US" sz="2200" dirty="0"/>
          </a:p>
        </p:txBody>
      </p:sp>
      <p:sp>
        <p:nvSpPr>
          <p:cNvPr id="8" name="Shape 6"/>
          <p:cNvSpPr/>
          <p:nvPr/>
        </p:nvSpPr>
        <p:spPr>
          <a:xfrm>
            <a:off x="457200" y="2487168"/>
            <a:ext cx="2697480" cy="1508760"/>
          </a:xfrm>
          <a:prstGeom prst="rect">
            <a:avLst/>
          </a:prstGeom>
          <a:solidFill>
            <a:srgbClr val="FFFFFF">
              <a:alpha val="8000"/>
            </a:srgbClr>
          </a:solidFill>
          <a:ln w="12700">
            <a:solidFill>
              <a:srgbClr val="0D7A8A">
                <a:alpha val="50000"/>
              </a:srgbClr>
            </a:solidFill>
            <a:prstDash val="solid"/>
          </a:ln>
        </p:spPr>
        <p:txBody>
          <a:bodyPr/>
          <a:lstStyle/>
          <a:p>
            <a:endParaRPr lang="en-US"/>
          </a:p>
        </p:txBody>
      </p:sp>
      <p:sp>
        <p:nvSpPr>
          <p:cNvPr id="9" name="Shape 7"/>
          <p:cNvSpPr/>
          <p:nvPr/>
        </p:nvSpPr>
        <p:spPr>
          <a:xfrm>
            <a:off x="621792" y="2606040"/>
            <a:ext cx="420624" cy="420624"/>
          </a:xfrm>
          <a:prstGeom prst="ellipse">
            <a:avLst/>
          </a:prstGeom>
          <a:solidFill>
            <a:srgbClr val="00B4A0"/>
          </a:solidFill>
          <a:ln w="12700">
            <a:solidFill>
              <a:srgbClr val="00B4A0"/>
            </a:solidFill>
            <a:prstDash val="solid"/>
          </a:ln>
        </p:spPr>
        <p:txBody>
          <a:bodyPr/>
          <a:lstStyle/>
          <a:p>
            <a:endParaRPr lang="en-US"/>
          </a:p>
        </p:txBody>
      </p:sp>
      <p:sp>
        <p:nvSpPr>
          <p:cNvPr id="10" name="Text 8"/>
          <p:cNvSpPr/>
          <p:nvPr/>
        </p:nvSpPr>
        <p:spPr>
          <a:xfrm>
            <a:off x="621792" y="2606040"/>
            <a:ext cx="420624" cy="420624"/>
          </a:xfrm>
          <a:prstGeom prst="rect">
            <a:avLst/>
          </a:prstGeom>
          <a:noFill/>
          <a:ln/>
        </p:spPr>
        <p:txBody>
          <a:bodyPr wrap="square" lIns="0" tIns="0" rIns="0" bIns="0" rtlCol="0" anchor="ctr"/>
          <a:lstStyle/>
          <a:p>
            <a:pPr marL="0" indent="0" algn="ctr">
              <a:buNone/>
            </a:pPr>
            <a:r>
              <a:rPr lang="en-US" sz="1500" b="1" dirty="0">
                <a:solidFill>
                  <a:srgbClr val="1A3A4A"/>
                </a:solidFill>
                <a:latin typeface="Trebuchet MS" pitchFamily="34" charset="0"/>
                <a:ea typeface="Trebuchet MS" pitchFamily="34" charset="-122"/>
                <a:cs typeface="Trebuchet MS" pitchFamily="34" charset="-120"/>
              </a:rPr>
              <a:t>A</a:t>
            </a:r>
            <a:endParaRPr lang="en-US" sz="1500" dirty="0"/>
          </a:p>
        </p:txBody>
      </p:sp>
      <p:sp>
        <p:nvSpPr>
          <p:cNvPr id="11" name="Text 9"/>
          <p:cNvSpPr/>
          <p:nvPr/>
        </p:nvSpPr>
        <p:spPr>
          <a:xfrm>
            <a:off x="621792" y="3127248"/>
            <a:ext cx="2377440" cy="777240"/>
          </a:xfrm>
          <a:prstGeom prst="rect">
            <a:avLst/>
          </a:prstGeom>
          <a:noFill/>
          <a:ln/>
        </p:spPr>
        <p:txBody>
          <a:bodyPr wrap="square" lIns="0" tIns="0" rIns="0" bIns="0" rtlCol="0" anchor="ctr"/>
          <a:lstStyle/>
          <a:p>
            <a:pPr marL="0" indent="0" algn="l">
              <a:buNone/>
            </a:pPr>
            <a:r>
              <a:rPr lang="en-US" sz="1600" dirty="0">
                <a:solidFill>
                  <a:srgbClr val="E0F5F3"/>
                </a:solidFill>
                <a:latin typeface="Calibri" pitchFamily="34" charset="0"/>
                <a:ea typeface="Calibri" pitchFamily="34" charset="-122"/>
                <a:cs typeface="Calibri" pitchFamily="34" charset="-120"/>
              </a:rPr>
              <a:t>Your approval in principle to proceed</a:t>
            </a:r>
            <a:endParaRPr lang="en-US" sz="1600" dirty="0"/>
          </a:p>
        </p:txBody>
      </p:sp>
      <p:sp>
        <p:nvSpPr>
          <p:cNvPr id="12" name="Shape 10"/>
          <p:cNvSpPr/>
          <p:nvPr/>
        </p:nvSpPr>
        <p:spPr>
          <a:xfrm>
            <a:off x="3310128" y="2487168"/>
            <a:ext cx="2697480" cy="1508760"/>
          </a:xfrm>
          <a:prstGeom prst="rect">
            <a:avLst/>
          </a:prstGeom>
          <a:solidFill>
            <a:srgbClr val="FFFFFF">
              <a:alpha val="8000"/>
            </a:srgbClr>
          </a:solidFill>
          <a:ln w="12700">
            <a:solidFill>
              <a:srgbClr val="0D7A8A">
                <a:alpha val="50000"/>
              </a:srgbClr>
            </a:solidFill>
            <a:prstDash val="solid"/>
          </a:ln>
        </p:spPr>
        <p:txBody>
          <a:bodyPr/>
          <a:lstStyle/>
          <a:p>
            <a:endParaRPr lang="en-US"/>
          </a:p>
        </p:txBody>
      </p:sp>
      <p:sp>
        <p:nvSpPr>
          <p:cNvPr id="13" name="Shape 11"/>
          <p:cNvSpPr/>
          <p:nvPr/>
        </p:nvSpPr>
        <p:spPr>
          <a:xfrm>
            <a:off x="3474720" y="2606040"/>
            <a:ext cx="420624" cy="420624"/>
          </a:xfrm>
          <a:prstGeom prst="ellipse">
            <a:avLst/>
          </a:prstGeom>
          <a:solidFill>
            <a:srgbClr val="00B4A0"/>
          </a:solidFill>
          <a:ln w="12700">
            <a:solidFill>
              <a:srgbClr val="00B4A0"/>
            </a:solidFill>
            <a:prstDash val="solid"/>
          </a:ln>
        </p:spPr>
        <p:txBody>
          <a:bodyPr/>
          <a:lstStyle/>
          <a:p>
            <a:endParaRPr lang="en-US"/>
          </a:p>
        </p:txBody>
      </p:sp>
      <p:sp>
        <p:nvSpPr>
          <p:cNvPr id="14" name="Text 12"/>
          <p:cNvSpPr/>
          <p:nvPr/>
        </p:nvSpPr>
        <p:spPr>
          <a:xfrm>
            <a:off x="3474720" y="2606040"/>
            <a:ext cx="420624" cy="420624"/>
          </a:xfrm>
          <a:prstGeom prst="rect">
            <a:avLst/>
          </a:prstGeom>
          <a:noFill/>
          <a:ln/>
        </p:spPr>
        <p:txBody>
          <a:bodyPr wrap="square" lIns="0" tIns="0" rIns="0" bIns="0" rtlCol="0" anchor="ctr"/>
          <a:lstStyle/>
          <a:p>
            <a:pPr marL="0" indent="0" algn="ctr">
              <a:buNone/>
            </a:pPr>
            <a:r>
              <a:rPr lang="en-US" sz="1500" b="1" dirty="0">
                <a:solidFill>
                  <a:srgbClr val="1A3A4A"/>
                </a:solidFill>
                <a:latin typeface="Trebuchet MS" pitchFamily="34" charset="0"/>
                <a:ea typeface="Trebuchet MS" pitchFamily="34" charset="-122"/>
                <a:cs typeface="Trebuchet MS" pitchFamily="34" charset="-120"/>
              </a:rPr>
              <a:t>B</a:t>
            </a:r>
            <a:endParaRPr lang="en-US" sz="1500" dirty="0"/>
          </a:p>
        </p:txBody>
      </p:sp>
      <p:sp>
        <p:nvSpPr>
          <p:cNvPr id="15" name="Text 13"/>
          <p:cNvSpPr/>
          <p:nvPr/>
        </p:nvSpPr>
        <p:spPr>
          <a:xfrm>
            <a:off x="3474720" y="3127248"/>
            <a:ext cx="2377440" cy="777240"/>
          </a:xfrm>
          <a:prstGeom prst="rect">
            <a:avLst/>
          </a:prstGeom>
          <a:noFill/>
          <a:ln/>
        </p:spPr>
        <p:txBody>
          <a:bodyPr wrap="square" lIns="0" tIns="0" rIns="0" bIns="0" rtlCol="0" anchor="ctr"/>
          <a:lstStyle/>
          <a:p>
            <a:pPr marL="0" indent="0" algn="l">
              <a:buNone/>
            </a:pPr>
            <a:r>
              <a:rPr lang="en-US" sz="1400" dirty="0">
                <a:solidFill>
                  <a:srgbClr val="E0F5F3"/>
                </a:solidFill>
                <a:latin typeface="Calibri" pitchFamily="34" charset="0"/>
                <a:ea typeface="Calibri" pitchFamily="34" charset="-122"/>
                <a:cs typeface="Calibri" pitchFamily="34" charset="-120"/>
              </a:rPr>
              <a:t>Guidance on outcome measures (BPI, PCS-4, or alternatives)</a:t>
            </a:r>
            <a:endParaRPr lang="en-US" sz="1400" dirty="0"/>
          </a:p>
        </p:txBody>
      </p:sp>
      <p:sp>
        <p:nvSpPr>
          <p:cNvPr id="16" name="Shape 14"/>
          <p:cNvSpPr/>
          <p:nvPr/>
        </p:nvSpPr>
        <p:spPr>
          <a:xfrm>
            <a:off x="6163056" y="2487168"/>
            <a:ext cx="2697480" cy="1508760"/>
          </a:xfrm>
          <a:prstGeom prst="rect">
            <a:avLst/>
          </a:prstGeom>
          <a:solidFill>
            <a:srgbClr val="FFFFFF">
              <a:alpha val="8000"/>
            </a:srgbClr>
          </a:solidFill>
          <a:ln w="12700">
            <a:solidFill>
              <a:srgbClr val="0D7A8A">
                <a:alpha val="50000"/>
              </a:srgbClr>
            </a:solidFill>
            <a:prstDash val="solid"/>
          </a:ln>
        </p:spPr>
        <p:txBody>
          <a:bodyPr/>
          <a:lstStyle/>
          <a:p>
            <a:endParaRPr lang="en-US"/>
          </a:p>
        </p:txBody>
      </p:sp>
      <p:sp>
        <p:nvSpPr>
          <p:cNvPr id="17" name="Shape 15"/>
          <p:cNvSpPr/>
          <p:nvPr/>
        </p:nvSpPr>
        <p:spPr>
          <a:xfrm>
            <a:off x="6327648" y="2606040"/>
            <a:ext cx="420624" cy="420624"/>
          </a:xfrm>
          <a:prstGeom prst="ellipse">
            <a:avLst/>
          </a:prstGeom>
          <a:solidFill>
            <a:srgbClr val="00B4A0"/>
          </a:solidFill>
          <a:ln w="12700">
            <a:solidFill>
              <a:srgbClr val="00B4A0"/>
            </a:solidFill>
            <a:prstDash val="solid"/>
          </a:ln>
        </p:spPr>
        <p:txBody>
          <a:bodyPr/>
          <a:lstStyle/>
          <a:p>
            <a:endParaRPr lang="en-US"/>
          </a:p>
        </p:txBody>
      </p:sp>
      <p:sp>
        <p:nvSpPr>
          <p:cNvPr id="18" name="Text 16"/>
          <p:cNvSpPr/>
          <p:nvPr/>
        </p:nvSpPr>
        <p:spPr>
          <a:xfrm>
            <a:off x="6327648" y="2606040"/>
            <a:ext cx="420624" cy="420624"/>
          </a:xfrm>
          <a:prstGeom prst="rect">
            <a:avLst/>
          </a:prstGeom>
          <a:noFill/>
          <a:ln/>
        </p:spPr>
        <p:txBody>
          <a:bodyPr wrap="square" lIns="0" tIns="0" rIns="0" bIns="0" rtlCol="0" anchor="ctr"/>
          <a:lstStyle/>
          <a:p>
            <a:pPr marL="0" indent="0" algn="ctr">
              <a:buNone/>
            </a:pPr>
            <a:r>
              <a:rPr lang="en-US" sz="1500" b="1" dirty="0">
                <a:solidFill>
                  <a:srgbClr val="1A3A4A"/>
                </a:solidFill>
                <a:latin typeface="Trebuchet MS" pitchFamily="34" charset="0"/>
                <a:ea typeface="Trebuchet MS" pitchFamily="34" charset="-122"/>
                <a:cs typeface="Trebuchet MS" pitchFamily="34" charset="-120"/>
              </a:rPr>
              <a:t>C</a:t>
            </a:r>
            <a:endParaRPr lang="en-US" sz="1500" dirty="0"/>
          </a:p>
        </p:txBody>
      </p:sp>
      <p:sp>
        <p:nvSpPr>
          <p:cNvPr id="19" name="Text 17"/>
          <p:cNvSpPr/>
          <p:nvPr/>
        </p:nvSpPr>
        <p:spPr>
          <a:xfrm>
            <a:off x="6327648" y="3127248"/>
            <a:ext cx="2377440" cy="777240"/>
          </a:xfrm>
          <a:prstGeom prst="rect">
            <a:avLst/>
          </a:prstGeom>
          <a:noFill/>
          <a:ln/>
        </p:spPr>
        <p:txBody>
          <a:bodyPr wrap="square" lIns="0" tIns="0" rIns="0" bIns="0" rtlCol="0" anchor="ctr"/>
          <a:lstStyle/>
          <a:p>
            <a:pPr marL="0" indent="0" algn="l">
              <a:buNone/>
            </a:pPr>
            <a:r>
              <a:rPr lang="en-US" sz="1600" dirty="0">
                <a:solidFill>
                  <a:srgbClr val="E0F5F3"/>
                </a:solidFill>
                <a:latin typeface="Calibri" pitchFamily="34" charset="0"/>
                <a:ea typeface="Calibri" pitchFamily="34" charset="-122"/>
                <a:cs typeface="Calibri" pitchFamily="34" charset="-120"/>
              </a:rPr>
              <a:t>IRB submission — we're ready to draft the protocol</a:t>
            </a:r>
            <a:endParaRPr lang="en-US" sz="1600" dirty="0"/>
          </a:p>
        </p:txBody>
      </p:sp>
      <p:sp>
        <p:nvSpPr>
          <p:cNvPr id="20" name="Text 18"/>
          <p:cNvSpPr/>
          <p:nvPr/>
        </p:nvSpPr>
        <p:spPr>
          <a:xfrm>
            <a:off x="457200" y="4206240"/>
            <a:ext cx="3657600" cy="347472"/>
          </a:xfrm>
          <a:prstGeom prst="rect">
            <a:avLst/>
          </a:prstGeom>
          <a:noFill/>
          <a:ln/>
        </p:spPr>
        <p:txBody>
          <a:bodyPr wrap="square" lIns="0" tIns="0" rIns="0" bIns="0" rtlCol="0" anchor="ctr"/>
          <a:lstStyle/>
          <a:p>
            <a:pPr marL="0" indent="0" algn="l">
              <a:buNone/>
            </a:pPr>
            <a:r>
              <a:rPr lang="en-US" sz="1300" i="1" dirty="0">
                <a:solidFill>
                  <a:srgbClr val="A8C8D0"/>
                </a:solidFill>
                <a:latin typeface="Calibri" pitchFamily="34" charset="0"/>
                <a:ea typeface="Calibri" pitchFamily="34" charset="-122"/>
                <a:cs typeface="Calibri" pitchFamily="34" charset="-120"/>
              </a:rPr>
              <a:t>Thank you, Michael.</a:t>
            </a:r>
            <a:endParaRPr lang="en-US" sz="1300" dirty="0"/>
          </a:p>
        </p:txBody>
      </p:sp>
      <p:sp>
        <p:nvSpPr>
          <p:cNvPr id="21" name="Text 19"/>
          <p:cNvSpPr/>
          <p:nvPr/>
        </p:nvSpPr>
        <p:spPr>
          <a:xfrm>
            <a:off x="5029200" y="4206240"/>
            <a:ext cx="3657600" cy="347472"/>
          </a:xfrm>
          <a:prstGeom prst="rect">
            <a:avLst/>
          </a:prstGeom>
          <a:noFill/>
          <a:ln/>
        </p:spPr>
        <p:txBody>
          <a:bodyPr wrap="square" lIns="0" tIns="0" rIns="0" bIns="0" rtlCol="0" anchor="ctr"/>
          <a:lstStyle/>
          <a:p>
            <a:pPr marL="0" indent="0" algn="r">
              <a:buNone/>
            </a:pPr>
            <a:r>
              <a:rPr lang="en-US" sz="1200" dirty="0">
                <a:solidFill>
                  <a:srgbClr val="A8C8D0"/>
                </a:solidFill>
                <a:latin typeface="Calibri" pitchFamily="34" charset="0"/>
                <a:ea typeface="Calibri" pitchFamily="34" charset="-122"/>
                <a:cs typeface="Calibri" pitchFamily="34" charset="-120"/>
              </a:rPr>
              <a:t>Questions &amp; 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3309</Words>
  <Application>Microsoft Office PowerPoint</Application>
  <PresentationFormat>On-screen Show (16:9)</PresentationFormat>
  <Paragraphs>189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Oluwatobiloba Olaoye</cp:lastModifiedBy>
  <cp:revision>2</cp:revision>
  <dcterms:created xsi:type="dcterms:W3CDTF">2026-04-17T06:38:08Z</dcterms:created>
  <dcterms:modified xsi:type="dcterms:W3CDTF">2026-04-18T20:21:55Z</dcterms:modified>
</cp:coreProperties>
</file>